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0104A9-FCFF-47B2-86EC-810B9D356C0B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F1DFB-5539-4BCB-BEEB-C76892F879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459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2C0E8-5542-F34B-B0AD-689AA7B9FC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579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FA9D9C-80EC-493C-BF58-A6C9EA921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793D03-2EB4-4CA9-B919-B596D543C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321310-C8F3-47F7-9CA1-74F609F7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2BDAB3-835A-4596-876A-C3A121A0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6E9EE5-34F5-44A2-8C3B-82CC0957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05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3BE29-7D6E-4CBF-BE6E-DB414746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E8172A-B52C-406C-9BC1-F93B937B3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13EF53-8339-46EC-9CBC-E9518166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983CBF-BA4A-4CEA-A32A-F984DD27E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ADD3C4-E424-4263-8B11-4F5C41EB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33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680C2-FC24-449D-B065-A5F5D57FD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C72E62-0CFB-412E-BB0E-642C4745F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314A9C-CD78-43A1-9CED-C6FBE9B4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73C276-28E6-4602-907F-B6F8212D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AEF84D-86D2-47F4-A2AB-E7C83F17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505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9C0F5-5564-4086-BB7B-5ED8FB1F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DC4C90-824B-4678-82AF-81F2DAC08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09C111-E2E3-4F8A-ACBB-64F401E9A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4E300D-4A7C-430C-A358-26C5D9B7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42C9AC-5CC9-4A87-8574-7ADD0838D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01EA19-6EFD-45D6-AA80-3E32EE51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975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F67BA-1B08-42ED-96FB-E7DF313C7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416B41-B792-413E-A6E1-2B4500472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ED6198-AE65-4C13-B1D7-6C15D904C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27A68F-F4FD-4403-AB93-8A05ED483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AFC4E3-2778-4F37-AE95-69788F33A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B0F02D-1C65-4835-AFBD-BACA696A9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ADD81E-A64E-41DE-AEE2-1FB09B9B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44C16F-7011-409A-8AAF-D617DE34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23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CCF79-A82D-4504-A0C4-CE51F21D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BA0344-40E1-4D2A-8D69-95BAE5EF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03CA16-88B2-470C-90E0-60DC6DCD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E80C71-F4A8-4ACF-B341-06A064B0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87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C77461-5831-4D71-8FBB-7C990FA1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FB27F8-14FC-42F1-B599-D9C33332F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23B0EF-821B-4D67-B36E-A4FCC55C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6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75FF3-5989-4C3E-8553-CB1E654AB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363E1A-AD7C-4DD3-9FAD-AD87F24C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3ECD24-4076-4214-868A-02B2F13EC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A0298B-26D3-461B-A893-1EBFB9F77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20BC83-8C28-4F98-B2C9-37D1AE3ED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E93D62-F8B6-40A5-BD4C-7744A59A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886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8A0B0-F951-4E9D-B99E-3A1EDF2C0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D4B3B8-1FD0-4317-8BDE-89A0B06B5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142856-7AC6-41FD-9F52-9FC618D5A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EECF0A-BFA3-4B51-A317-BA611A430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F9F4A8-72E5-4825-AEEB-F428788D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25A470-ED12-4376-AA09-45A25741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58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6A515-3DE0-41D7-A63E-AF1E60D0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290B33-5998-4449-A9E3-7FE6FD875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6760D9-FDCA-451A-A57C-9BE09956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03061B-9E9F-46B4-BD0E-ED903178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253AC6-4AE7-428C-9568-2282B956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624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119023-2624-4862-82CE-641041869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B4308B-03AA-49AB-B5D7-9085B5D82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B36637-969D-4B3C-913E-80B67B7E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618448-84F8-4A46-8491-497E179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795267-86B1-4A37-9A94-18D224206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857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AD7EF4-0653-4EAF-8F92-D33F4563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6BAD93-9818-4F30-AA32-7475E8AF0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E04B78-EAB1-4197-AD23-C14AD0443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B93060-6CE7-46C1-A751-348111631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53A89A-5AE3-4F59-96C8-DB6B35F8E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13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094E8C7-9E06-604E-BDA6-C9351D735AAB}"/>
              </a:ext>
            </a:extLst>
          </p:cNvPr>
          <p:cNvSpPr/>
          <p:nvPr/>
        </p:nvSpPr>
        <p:spPr>
          <a:xfrm>
            <a:off x="4699443" y="1821770"/>
            <a:ext cx="6785089" cy="3952067"/>
          </a:xfrm>
          <a:prstGeom prst="roundRect">
            <a:avLst>
              <a:gd name="adj" fmla="val 2746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EF242-F9BC-BF46-A040-81C51936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65677" cy="1161575"/>
          </a:xfrm>
        </p:spPr>
        <p:txBody>
          <a:bodyPr wrap="square" lIns="38100" rIns="38100" tIns="25400" bIns="25400">
            <a:normAutofit/>
          </a:bodyPr>
          <a:lstStyle/>
          <a:p>
            <a:r>
              <a:t>With HMO supplement (2’FL and LNnT), the mean </a:t>
            </a:r>
            <a:br/>
            <a:r>
              <a:t>time to reach full enteral feeding was 2 days shorter1*</a:t>
            </a:r>
            <a:br/>
            <a:r>
              <a:t>补充HMO（2’FL和LNnT）后，达到全肠内喂养的平均时间缩短了2天1*</a:t>
            </a:r>
            <a:endParaRPr lang="en-GB" sz="2800" baseline="30000" dirty="0"/>
          </a:p>
        </p:txBody>
      </p:sp>
      <p:sp>
        <p:nvSpPr>
          <p:cNvPr id="9" name="Textfeld 27">
            <a:extLst>
              <a:ext uri="{FF2B5EF4-FFF2-40B4-BE49-F238E27FC236}">
                <a16:creationId xmlns:a16="http://schemas.microsoft.com/office/drawing/2014/main" id="{D4649611-62E2-084A-8643-8A9758F03B5E}"/>
              </a:ext>
            </a:extLst>
          </p:cNvPr>
          <p:cNvSpPr txBox="1"/>
          <p:nvPr/>
        </p:nvSpPr>
        <p:spPr>
          <a:xfrm>
            <a:off x="6123708" y="6308099"/>
            <a:ext cx="5430972" cy="215444"/>
          </a:xfrm>
          <a:prstGeom prst="rect">
            <a:avLst/>
          </a:prstGeom>
          <a:noFill/>
        </p:spPr>
        <p:txBody>
          <a:bodyPr wrap="square" rtlCol="0" lIns="38100" rIns="38100" tIns="25400" bIns="25400">
            <a:normAutofit/>
          </a:bodyPr>
          <a:lstStyle/>
          <a:p>
            <a:pPr algn="r"/>
            <a:r>
              <a:t>2’FL, 2-fucosyllactose; HMO, human milk oligosaccharide; LNnT, Lacto-N-neotetraose.</a:t>
            </a:r>
            <a:br/>
            <a:r>
              <a:t>2’FL，2-岩藻糖基乳糖；HMO，人乳寡糖；LNnT，乳-N-新四糖。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48BBF2-5A7E-BE49-9762-05272874643C}"/>
              </a:ext>
            </a:extLst>
          </p:cNvPr>
          <p:cNvSpPr/>
          <p:nvPr/>
        </p:nvSpPr>
        <p:spPr>
          <a:xfrm>
            <a:off x="6094836" y="6538932"/>
            <a:ext cx="5430972" cy="215444"/>
          </a:xfrm>
          <a:prstGeom prst="rect">
            <a:avLst/>
          </a:prstGeom>
        </p:spPr>
        <p:txBody>
          <a:bodyPr wrap="square" lIns="38100" rIns="38100" tIns="25400" bIns="25400">
            <a:normAutofit/>
          </a:bodyPr>
          <a:lstStyle/>
          <a:p>
            <a:pPr algn="r"/>
            <a:r>
              <a:t>1. Hascoët JM et al., Abstract at WCPGHAN 2021. * Randomised, clinical trial</a:t>
            </a:r>
            <a:br/>
            <a:r>
              <a:t>1. Hascoët JM等，WCPGHAN 2021摘要。* 随机临床试验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8400C42-780D-A546-957C-6D76757A3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544" y="5078966"/>
            <a:ext cx="3073357" cy="880131"/>
          </a:xfrm>
        </p:spPr>
        <p:txBody>
          <a:bodyPr wrap="square" lIns="38100" rIns="38100" tIns="25400" bIns="25400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t>Faster progression to FEF may help reduce the risk of growth restriction and exacerbated gut immaturity1</a:t>
            </a:r>
            <a:br/>
            <a:r>
              <a:t>更快地达到FEF可能有助于降低生长受限和肠道不成熟加剧的风险1</a:t>
            </a:r>
            <a:endParaRPr lang="en-GB" sz="1400" baseline="30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8F4B26-B80F-1645-88C4-B7813341A0E1}"/>
              </a:ext>
            </a:extLst>
          </p:cNvPr>
          <p:cNvGrpSpPr/>
          <p:nvPr/>
        </p:nvGrpSpPr>
        <p:grpSpPr>
          <a:xfrm>
            <a:off x="5007828" y="2229182"/>
            <a:ext cx="6085305" cy="2849785"/>
            <a:chOff x="791686" y="2602947"/>
            <a:chExt cx="6085305" cy="2849785"/>
          </a:xfrm>
        </p:grpSpPr>
        <p:sp>
          <p:nvSpPr>
            <p:cNvPr id="20" name="Abgerundetes Rechteck 5">
              <a:extLst>
                <a:ext uri="{FF2B5EF4-FFF2-40B4-BE49-F238E27FC236}">
                  <a16:creationId xmlns:a16="http://schemas.microsoft.com/office/drawing/2014/main" id="{15948B31-DCDC-6246-B28A-D4BCCB462E83}"/>
                </a:ext>
              </a:extLst>
            </p:cNvPr>
            <p:cNvSpPr/>
            <p:nvPr/>
          </p:nvSpPr>
          <p:spPr>
            <a:xfrm>
              <a:off x="836227" y="2602947"/>
              <a:ext cx="3457876" cy="20126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Full enteral feeding^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7045D1F-E9C8-AA4B-AEBA-DD4EFC9E24BA}"/>
                </a:ext>
              </a:extLst>
            </p:cNvPr>
            <p:cNvCxnSpPr>
              <a:cxnSpLocks/>
            </p:cNvCxnSpPr>
            <p:nvPr/>
          </p:nvCxnSpPr>
          <p:spPr>
            <a:xfrm>
              <a:off x="919285" y="5144214"/>
              <a:ext cx="4554842" cy="0"/>
            </a:xfrm>
            <a:prstGeom prst="line">
              <a:avLst/>
            </a:prstGeom>
            <a:ln w="127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D673111-391A-D445-961A-5B6136A43CE3}"/>
                </a:ext>
              </a:extLst>
            </p:cNvPr>
            <p:cNvSpPr/>
            <p:nvPr/>
          </p:nvSpPr>
          <p:spPr>
            <a:xfrm>
              <a:off x="919285" y="2970710"/>
              <a:ext cx="4142738" cy="883715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/>
                <a:t>Placebo</a:t>
              </a:r>
            </a:p>
            <a:p>
              <a:r>
                <a:rPr lang="en-US" sz="1000" dirty="0"/>
                <a:t>(n=43)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190B90CE-0D19-4C47-9880-6164A6488DC9}"/>
                </a:ext>
              </a:extLst>
            </p:cNvPr>
            <p:cNvSpPr/>
            <p:nvPr/>
          </p:nvSpPr>
          <p:spPr>
            <a:xfrm>
              <a:off x="919285" y="4052264"/>
              <a:ext cx="3743837" cy="883715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200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HMO (2’FL, </a:t>
              </a:r>
              <a:r>
                <a:rPr lang="en-GB" sz="1200" b="1" dirty="0" err="1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LNnT</a:t>
              </a:r>
              <a:r>
                <a:rPr lang="en-GB" sz="1200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supplement </a:t>
              </a:r>
            </a:p>
            <a:p>
              <a:r>
                <a:rPr lang="en-US" sz="1000" dirty="0">
                  <a:solidFill>
                    <a:schemeClr val="bg2"/>
                  </a:solidFill>
                </a:rPr>
                <a:t>(n=43)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9E113A-9606-F34E-AB32-EED29DE19E28}"/>
                </a:ext>
              </a:extLst>
            </p:cNvPr>
            <p:cNvSpPr txBox="1"/>
            <p:nvPr/>
          </p:nvSpPr>
          <p:spPr>
            <a:xfrm>
              <a:off x="4346368" y="3222704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14,3</a:t>
              </a:r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14B9877-F5FF-7346-A750-13979314952F}"/>
                </a:ext>
              </a:extLst>
            </p:cNvPr>
            <p:cNvSpPr txBox="1"/>
            <p:nvPr/>
          </p:nvSpPr>
          <p:spPr>
            <a:xfrm>
              <a:off x="3875846" y="4309455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12,2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919E0A-65C1-A044-B9A2-81EA976213AF}"/>
                </a:ext>
              </a:extLst>
            </p:cNvPr>
            <p:cNvSpPr txBox="1"/>
            <p:nvPr/>
          </p:nvSpPr>
          <p:spPr>
            <a:xfrm>
              <a:off x="791686" y="5206511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652AAFE-C6A9-3246-94FF-9F330E31F8C7}"/>
                </a:ext>
              </a:extLst>
            </p:cNvPr>
            <p:cNvSpPr txBox="1"/>
            <p:nvPr/>
          </p:nvSpPr>
          <p:spPr>
            <a:xfrm>
              <a:off x="2309967" y="5206511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E7FC77F-816E-8246-8C6F-2677BB299408}"/>
                </a:ext>
              </a:extLst>
            </p:cNvPr>
            <p:cNvSpPr txBox="1"/>
            <p:nvPr/>
          </p:nvSpPr>
          <p:spPr>
            <a:xfrm>
              <a:off x="3828248" y="520651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513C678-ADA3-AE47-A48B-1A39BF0ADB14}"/>
                </a:ext>
              </a:extLst>
            </p:cNvPr>
            <p:cNvSpPr txBox="1"/>
            <p:nvPr/>
          </p:nvSpPr>
          <p:spPr>
            <a:xfrm>
              <a:off x="5346528" y="520651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15</a:t>
              </a:r>
            </a:p>
          </p:txBody>
        </p:sp>
        <p:sp>
          <p:nvSpPr>
            <p:cNvPr id="42" name="Pfeil nach unten 19">
              <a:extLst>
                <a:ext uri="{FF2B5EF4-FFF2-40B4-BE49-F238E27FC236}">
                  <a16:creationId xmlns:a16="http://schemas.microsoft.com/office/drawing/2014/main" id="{33D8C431-D2C0-484C-A5BF-67C61B82DA15}"/>
                </a:ext>
              </a:extLst>
            </p:cNvPr>
            <p:cNvSpPr/>
            <p:nvPr/>
          </p:nvSpPr>
          <p:spPr>
            <a:xfrm rot="5400000">
              <a:off x="5361247" y="3436132"/>
              <a:ext cx="880470" cy="2151019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131B57-5B19-D640-AD55-F246766E51CC}"/>
                </a:ext>
              </a:extLst>
            </p:cNvPr>
            <p:cNvSpPr txBox="1"/>
            <p:nvPr/>
          </p:nvSpPr>
          <p:spPr>
            <a:xfrm>
              <a:off x="5028571" y="4317204"/>
              <a:ext cx="1762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2"/>
                  </a:solidFill>
                </a:rPr>
                <a:t>2 days shorter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5AB366B-93DC-4249-9B0A-7E0FD442B8F3}"/>
              </a:ext>
            </a:extLst>
          </p:cNvPr>
          <p:cNvSpPr txBox="1"/>
          <p:nvPr/>
        </p:nvSpPr>
        <p:spPr>
          <a:xfrm>
            <a:off x="5007828" y="5274831"/>
            <a:ext cx="4442242" cy="246221"/>
          </a:xfrm>
          <a:prstGeom prst="rect">
            <a:avLst/>
          </a:prstGeom>
          <a:noFill/>
        </p:spPr>
        <p:txBody>
          <a:bodyPr wrap="square" rtlCol="0" lIns="38100" rIns="38100" tIns="25400" bIns="25400">
            <a:normAutofit/>
          </a:bodyPr>
          <a:lstStyle/>
          <a:p>
            <a:r>
              <a:t>^Time to reach full enteral feeding is a reliable indicator of feeding tolerance</a:t>
            </a:r>
            <a:br/>
            <a:r>
              <a:t>^达到全肠内喂养的时间是评估喂养耐受性的可靠指标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4005992-76D3-4144-A0F0-4F65B81DC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537" y="1552431"/>
            <a:ext cx="3753137" cy="37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4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With HMO supplement (2’FL and LNnT), the mean  time to reach full enteral feeding was 2 days shorter1*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488460324@qq.com</dc:creator>
  <cp:lastModifiedBy>488460324@qq.com</cp:lastModifiedBy>
  <cp:revision>2</cp:revision>
  <dcterms:created xsi:type="dcterms:W3CDTF">2025-01-11T13:04:11Z</dcterms:created>
  <dcterms:modified xsi:type="dcterms:W3CDTF">2025-01-11T13:27:48Z</dcterms:modified>
</cp:coreProperties>
</file>