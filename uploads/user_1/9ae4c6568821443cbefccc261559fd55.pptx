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5" r:id="rId21"/>
    <p:sldMasterId id="2147483686" r:id="rId22"/>
    <p:sldMasterId id="2147483687" r:id="rId23"/>
    <p:sldMasterId id="2147483688" r:id="rId24"/>
    <p:sldMasterId id="2147483689" r:id="rId25"/>
    <p:sldMasterId id="2147483690" r:id="rId26"/>
  </p:sldMasterIdLst>
  <p:sldIdLst>
    <p:sldId id="256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800C45-ED4C-4684-9C6D-2481B704BF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49D86E-9267-4DF2-AF55-0F7DDC7B61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09AFA5F-631B-47CC-8F25-9213703E48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E6789FC-F189-400C-8D35-BF6F51052E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E4F76D6-6D1F-4562-95CD-FE53CAF2F1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54C3968-2E72-46FE-8D05-F5ABFB8513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B7B5FFC-C910-43C7-A851-A0CB4EBD1D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3BFCE9E-BDFC-49EE-9721-1BF3411AC7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123EEE6-887B-44A9-A07D-ECEC8575FB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05879CB-663E-4908-981A-04DD56DE89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726A465-1913-405B-8C88-140D2669B4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3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0D59293E-D0EB-4BCF-B211-BD16E56CC74F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47934C-4200-44C5-B3D5-F21F1DD32BB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4D2846-EDC1-4BEE-87DF-1C4B683672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3B3DE-7544-4018-856E-8C76737AEBE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C462CB-D618-46DC-B4CA-4C8645D039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E9AE60-7791-481E-B9B2-6744EA4537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06066C-F821-49DD-BC43-2B10F37B71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DACCF3-7063-4D0F-994F-A03D51682E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6EE064-3423-4A4A-A236-5FA630DC744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97A8D1-0506-45AE-9B5D-D33546BC80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73BC5D-0919-4485-B936-7B354901B82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216BF0-5AE4-4853-95A0-705671AFE3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2" descr="A picture containing person&#10;&#10;Description automatically generated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5" name="Straight Connector 3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7" name="Graphic 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5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3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5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3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1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3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8" name="Straight Connector 7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0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444560" y="0"/>
            <a:ext cx="7747200" cy="685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6"/>
          <p:cNvSpPr/>
          <p:nvPr/>
        </p:nvSpPr>
        <p:spPr>
          <a:xfrm>
            <a:off x="518760" y="6228360"/>
            <a:ext cx="1782000" cy="5691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4"/>
          </p:nvPr>
        </p:nvSpPr>
        <p:spPr>
          <a:xfrm>
            <a:off x="4804200" y="6356520"/>
            <a:ext cx="65491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557639B-7D36-4ABC-994B-EC8968AC263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Straight Connector 8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47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4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Straight Connector 8"/>
          <p:cNvCxnSpPr/>
          <p:nvPr/>
        </p:nvCxnSpPr>
        <p:spPr>
          <a:xfrm>
            <a:off x="963720" y="440316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32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664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839880" y="1779480"/>
            <a:ext cx="515736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60316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172200" y="1779480"/>
            <a:ext cx="518292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6172200" y="260316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Straight Connector 15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4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Straight Connector 6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8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1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Straight Connector 8"/>
          <p:cNvCxnSpPr/>
          <p:nvPr/>
        </p:nvCxnSpPr>
        <p:spPr>
          <a:xfrm>
            <a:off x="945720" y="184824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839880" y="2360880"/>
            <a:ext cx="3931920" cy="35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Straight Connector 7"/>
          <p:cNvCxnSpPr/>
          <p:nvPr/>
        </p:nvCxnSpPr>
        <p:spPr>
          <a:xfrm>
            <a:off x="945720" y="220680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" descr=""/>
          <p:cNvPicPr/>
          <p:nvPr/>
        </p:nvPicPr>
        <p:blipFill>
          <a:blip r:embed="rId4"/>
          <a:stretch/>
        </p:blipFill>
        <p:spPr>
          <a:xfrm flipH="1">
            <a:off x="2491560" y="0"/>
            <a:ext cx="9700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05760" y="260604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2" name="Graphic 9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feil nach unten 19"/>
          <p:cNvSpPr/>
          <p:nvPr/>
        </p:nvSpPr>
        <p:spPr>
          <a:xfrm rot="16200000">
            <a:off x="3675240" y="3511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Abgerundetes Rechteck 9"/>
          <p:cNvSpPr/>
          <p:nvPr/>
        </p:nvSpPr>
        <p:spPr>
          <a:xfrm>
            <a:off x="8600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Internal risk factors</a:t>
            </a:r>
            <a:r>
              <a:rPr b="1" lang="en-GB" sz="1400" strike="noStrike" u="none" baseline="30000" i="0">
                <a:solidFill>
                  <a:srgbClr val="666666"/>
                </a:solidFill>
                <a:effectLst/>
                <a:uFillTx/>
                <a:latin typeface="Arial"/>
              </a:rPr>
              <a:t>7-10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Gestational 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Birth weight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Genetics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In utero colonisation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6282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2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A disturbed microbial colonisation of the GI tract contributes to feeding intolerance of preterm infants</a:t>
            </a:r>
            <a:r>
              <a:rPr b="0" lang="en-GB" sz="2800" strike="noStrike" u="none" baseline="30000">
                <a:solidFill>
                  <a:schemeClr val="accent1"/>
                </a:solidFill>
                <a:effectLst/>
                <a:uFillTx/>
                <a:latin typeface="Arial"/>
              </a:rPr>
              <a:t>1-8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3987720" y="6370560"/>
            <a:ext cx="7772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800" strike="noStrike" u="none" i="0">
                <a:solidFill>
                  <a:srgbClr val="a3a3a3"/>
                </a:solidFill>
                <a:effectLst/>
                <a:uFillTx/>
                <a:latin typeface="Arial"/>
              </a:rPr>
              <a:t>1. Di Mauro A et al., 2013; 2. Ford SL et al., 2019; 3. Fanaro S, 2013; 4. Senterre T, 2014; 5. Fouhy F et al., 2019; 6. Yuan Z et al., 2019;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800" strike="noStrike" u="none" i="0">
                <a:solidFill>
                  <a:srgbClr val="a3a3a3"/>
                </a:solidFill>
                <a:effectLst/>
                <a:uFillTx/>
                <a:latin typeface="Arial"/>
              </a:rPr>
              <a:t> 7. Collado C et al., 2015; 8. Hendrickx JGE et al., 2019; 9. Lenfestey MW and Neu J, 2018; 10. Unger S et al., 2015; 11. Greenwood C et al., 2014.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Abgerundetes Rechteck 9"/>
          <p:cNvSpPr/>
          <p:nvPr/>
        </p:nvSpPr>
        <p:spPr>
          <a:xfrm>
            <a:off x="4109400" y="2870640"/>
            <a:ext cx="3988800" cy="1604880"/>
          </a:xfrm>
          <a:prstGeom prst="roundRect">
            <a:avLst>
              <a:gd name="adj" fmla="val 7857"/>
            </a:avLst>
          </a:prstGeom>
          <a:solidFill>
            <a:schemeClr val="lt1"/>
          </a:solidFill>
          <a:ln w="19080">
            <a:solidFill>
              <a:schemeClr val="accent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Delayed colonization of commensal bacteria, such as </a:t>
            </a:r>
            <a:r>
              <a:rPr b="0" i="1" lang="en-GB" sz="140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Bifidobacteria</a:t>
            </a: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, </a:t>
            </a:r>
            <a:r>
              <a:rPr b="0" i="1" lang="en-GB" sz="140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Lactobacillus</a:t>
            </a:r>
            <a:r>
              <a:rPr b="0" lang="en-GB" sz="140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Limited microbial diversity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Microbial </a:t>
            </a:r>
            <a:r>
              <a:rPr b="0" lang="en-GB" sz="1400" strike="noStrike" u="none" i="0">
                <a:solidFill>
                  <a:srgbClr val="5c5c5c"/>
                </a:solidFill>
                <a:effectLst/>
                <a:uFillTx/>
                <a:latin typeface="Arial"/>
              </a:rPr>
              <a:t>disturbances persist up to 4 years of 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Abgerundetes Rechteck 13"/>
          <p:cNvSpPr/>
          <p:nvPr/>
        </p:nvSpPr>
        <p:spPr>
          <a:xfrm>
            <a:off x="4109400" y="4731840"/>
            <a:ext cx="3988800" cy="1141200"/>
          </a:xfrm>
          <a:prstGeom prst="roundRect">
            <a:avLst>
              <a:gd name="adj" fmla="val 12135"/>
            </a:avLst>
          </a:prstGeom>
          <a:solidFill>
            <a:schemeClr val="accent1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400" strike="noStrike" u="none" i="0">
                <a:solidFill>
                  <a:srgbClr val="ffffff"/>
                </a:solidFill>
                <a:effectLst/>
                <a:uFillTx/>
                <a:latin typeface="Arial"/>
              </a:rPr>
              <a:t>Feeding intolerance, NEC, impact on immune system development and gut barrier integrity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7653240" y="6129360"/>
            <a:ext cx="4106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800" strike="noStrike" u="none" i="0">
                <a:solidFill>
                  <a:srgbClr val="a3a3a3"/>
                </a:solidFill>
                <a:effectLst/>
                <a:uFillTx/>
                <a:latin typeface="Arial"/>
              </a:rPr>
              <a:t>GI, gastrointestinal; NEC, necrotising enterocolitis; NICU, neonatal intensive care unit.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feil nach unten 19"/>
          <p:cNvSpPr/>
          <p:nvPr/>
        </p:nvSpPr>
        <p:spPr>
          <a:xfrm>
            <a:off x="5868720" y="4465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feil nach unten 19"/>
          <p:cNvSpPr/>
          <p:nvPr/>
        </p:nvSpPr>
        <p:spPr>
          <a:xfrm>
            <a:off x="5868720" y="259452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Abgerundetes Rechteck 5"/>
          <p:cNvSpPr/>
          <p:nvPr/>
        </p:nvSpPr>
        <p:spPr>
          <a:xfrm>
            <a:off x="4079880" y="1932840"/>
            <a:ext cx="4048200" cy="68148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400" strike="noStrike" u="none" i="0">
                <a:solidFill>
                  <a:srgbClr val="ffffff"/>
                </a:solidFill>
                <a:effectLst/>
                <a:uFillTx/>
                <a:latin typeface="Arial"/>
              </a:rPr>
              <a:t>Disturbed gut microbial colonisation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feil nach unten 19"/>
          <p:cNvSpPr/>
          <p:nvPr/>
        </p:nvSpPr>
        <p:spPr>
          <a:xfrm rot="5400000">
            <a:off x="8071920" y="351144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Abgerundetes Rechteck 9"/>
          <p:cNvSpPr/>
          <p:nvPr/>
        </p:nvSpPr>
        <p:spPr>
          <a:xfrm>
            <a:off x="84632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External risk factors</a:t>
            </a:r>
            <a:r>
              <a:rPr b="1" lang="en-GB" sz="1400" strike="noStrike" u="none" baseline="30000" i="0">
                <a:solidFill>
                  <a:srgbClr val="666666"/>
                </a:solidFill>
                <a:effectLst/>
                <a:uFillTx/>
                <a:latin typeface="Arial"/>
              </a:rPr>
              <a:t>7-11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Antibiotics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Mode of delivery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NICU environment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Skin to skin contact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Breast milk exposure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GB" sz="1400" strike="noStrike" u="none" i="0">
                <a:solidFill>
                  <a:srgbClr val="666666"/>
                </a:solidFill>
                <a:effectLst/>
                <a:uFillTx/>
                <a:latin typeface="Arial"/>
              </a:rPr>
              <a:t>Medical complexity, inflammation, oxidative stress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2025-01-03T13:05:54Z</dcterms:created>
  <dc:creator>488460324@qq.com</dc:creator>
  <dc:description/>
  <dc:language>zh-CN</dc:language>
  <cp:lastModifiedBy>488460324@qq.com</cp:lastModifiedBy>
  <dcterms:modified xsi:type="dcterms:W3CDTF">2025-01-08T05:46:03Z</dcterms:modified>
  <cp:revision>6</cp:revision>
  <dc:subject/>
  <dc:title>A disturbed microbial colonisation of the GI tract contributes to feeding intolerance of preterm infants1-8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r8>1</vt:r8>
  </property>
</Properties>
</file>