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5" r:id="rId21"/>
    <p:sldMasterId id="2147483686" r:id="rId22"/>
    <p:sldMasterId id="2147483687" r:id="rId23"/>
    <p:sldMasterId id="2147483688" r:id="rId24"/>
    <p:sldMasterId id="2147483689" r:id="rId25"/>
    <p:sldMasterId id="2147483690" r:id="rId26"/>
  </p:sldMasterIdLst>
  <p:sldIdLst>
    <p:sldId id="256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D50F8D-9DB6-44D1-ACE9-42E189AF44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2440C8-CC7D-435F-80C2-240AEE5CE8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CE1D219-38E8-4CC0-AE47-0B4920F88D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E9B0909-BE44-4198-9442-851A4E47A3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E520C20-9862-4007-80C5-3E8CD7744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5DB648-51B8-4434-92A1-B92650A336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A2D801E-B479-4AAF-8E8D-C2F97EAEF0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B807111-90E7-4720-88D8-21372E288B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26FDB08-9799-43FF-883A-AC72F9BAF8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D24F518-650B-4EFF-AE4E-A8A05A7A30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10689D7-1E87-441C-B4D8-200D2E7960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3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7AA56850-1BED-414B-92EA-B8107C65E1BC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13F4CD-C3AE-4956-AF61-25451D56E19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078327-0963-44E4-9CED-AE0B8273151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17D996-EF01-4DF9-A72E-58E77E50D6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AFCBCA-E5ED-40FE-8E45-4B0B8F8662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9FA6C8-60F0-4764-9F7B-92AC40D0B1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955955-AA78-437C-8E4F-A43E54E25B1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C648A2-0F74-4429-9A32-9EFB6E4AAE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5C9452-5319-4A56-84C9-4BE03FBCBD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5BB771-3700-4AEE-88D4-B1A430D681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59D9D9-28BC-4117-9915-8C771CA17A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6E68F4-D6B0-49AB-BFAC-C40F5254CEC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2" descr="A picture containing person&#10;&#10;Description automatically generated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5" name="Straight Connector 3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7" name="Graphic 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5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3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5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3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1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3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8" name="Straight Connector 7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0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444560" y="0"/>
            <a:ext cx="7747200" cy="685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6"/>
          <p:cNvSpPr/>
          <p:nvPr/>
        </p:nvSpPr>
        <p:spPr>
          <a:xfrm>
            <a:off x="518760" y="6228360"/>
            <a:ext cx="1782000" cy="5691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4"/>
          </p:nvPr>
        </p:nvSpPr>
        <p:spPr>
          <a:xfrm>
            <a:off x="4804200" y="6356520"/>
            <a:ext cx="65491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6B7FE3-3704-4A70-BF80-56E237AD2BD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Straight Connector 8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47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4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Straight Connector 8"/>
          <p:cNvCxnSpPr/>
          <p:nvPr/>
        </p:nvCxnSpPr>
        <p:spPr>
          <a:xfrm>
            <a:off x="963720" y="440316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32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664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839880" y="1779480"/>
            <a:ext cx="515736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60316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172200" y="1779480"/>
            <a:ext cx="518292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6172200" y="260316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Straight Connector 15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4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Straight Connector 6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8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1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Straight Connector 8"/>
          <p:cNvCxnSpPr/>
          <p:nvPr/>
        </p:nvCxnSpPr>
        <p:spPr>
          <a:xfrm>
            <a:off x="945720" y="184824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839880" y="2360880"/>
            <a:ext cx="3931920" cy="35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Straight Connector 7"/>
          <p:cNvCxnSpPr/>
          <p:nvPr/>
        </p:nvCxnSpPr>
        <p:spPr>
          <a:xfrm>
            <a:off x="945720" y="220680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" descr=""/>
          <p:cNvPicPr/>
          <p:nvPr/>
        </p:nvPicPr>
        <p:blipFill>
          <a:blip r:embed="rId4"/>
          <a:stretch/>
        </p:blipFill>
        <p:spPr>
          <a:xfrm flipH="1">
            <a:off x="2491560" y="0"/>
            <a:ext cx="9700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05760" y="260604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2" name="Graphic 9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feil nach unten 19"/>
          <p:cNvSpPr/>
          <p:nvPr/>
        </p:nvSpPr>
        <p:spPr>
          <a:xfrm rot="16200000">
            <a:off x="3675240" y="3511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Abgerundetes Rechteck 9"/>
          <p:cNvSpPr/>
          <p:nvPr/>
        </p:nvSpPr>
        <p:spPr>
          <a:xfrm>
            <a:off x="8600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r>
              <a:rPr b="1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Internal risk factors7-10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内部风险因素</a:t>
            </a: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Gestational 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胎龄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Birth weight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出生体重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Genetics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遗传因素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 utero colonisation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宫内定植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6282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9999"/>
          </a:bodyPr>
          <a:p>
            <a:pPr indent="0">
              <a:buNone/>
            </a:pPr>
            <a:r>
              <a:rPr b="1" lang="en-US" sz="2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A disturbed microbial colonisation of the GI tract contributes to feeding intolerance of preterm infants1-8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1" lang="zh-CN" sz="2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胃肠道微生物定植紊乱是导致早产儿喂养不耐受的重要因素</a:t>
            </a:r>
            <a:r>
              <a:rPr b="1" lang="en-US" sz="2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1-8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3987720" y="6370560"/>
            <a:ext cx="7772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62500" lnSpcReduction="19999"/>
          </a:bodyPr>
          <a:p>
            <a:r>
              <a:rPr b="0" lang="en-US" sz="800" strike="noStrike" u="none" i="0">
                <a:solidFill>
                  <a:schemeClr val="dk1"/>
                </a:solidFill>
                <a:effectLst/>
                <a:uFillTx/>
                <a:latin typeface="Arial"/>
              </a:rPr>
              <a:t>1. Di Mauro A et al., 2013; 2. Ford SL et al., 2019; 3. Fanaro S, 2013; 4. Senterre T, 2014; 5. Fouhy F et al., 2019; 6. Yuan Z et al., 2019;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 i="0">
                <a:solidFill>
                  <a:schemeClr val="dk1"/>
                </a:solidFill>
                <a:effectLst/>
                <a:uFillTx/>
                <a:latin typeface="Arial"/>
              </a:rPr>
              <a:t>1. Di Mauro A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2013; 2. Ford SL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3. Fanaro S, 2013; 4. Senterre T, 2014; 5. Fouhy F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6. Yuan Z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et al., 2015; 8. Hendrickx JGE et al., 2019; 9. Lenfestey MW and Neu J, 2018; 10. Unger S et al., 2015; 11. Greenwood C et al., 2014.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2015; 8. Hendrickx JGE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2019; 9. Lenfestey MW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与 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Neu J, 2018; 10. Unger S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2015; 11. Greenwood C 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2014.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Abgerundetes Rechteck 9"/>
          <p:cNvSpPr/>
          <p:nvPr/>
        </p:nvSpPr>
        <p:spPr>
          <a:xfrm>
            <a:off x="4109400" y="2870640"/>
            <a:ext cx="3988800" cy="1604880"/>
          </a:xfrm>
          <a:prstGeom prst="roundRect">
            <a:avLst>
              <a:gd name="adj" fmla="val 7857"/>
            </a:avLst>
          </a:prstGeom>
          <a:solidFill>
            <a:schemeClr val="lt1"/>
          </a:solidFill>
          <a:ln w="19080">
            <a:solidFill>
              <a:schemeClr val="accent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92500" lnSpcReduction="9999"/>
          </a:bodyPr>
          <a:p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Delayed colonization of commensal bacteria, such as Bifidobacteria, Lactobacillus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共生菌（如双歧杆菌、乳酸杆菌）定植延迟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Limited microbial diversity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微生物多样性受限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Microbial disturbances persist up to 4 years of 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微生物紊乱可持续至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4</a:t>
            </a: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岁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Abgerundetes Rechteck 13"/>
          <p:cNvSpPr/>
          <p:nvPr/>
        </p:nvSpPr>
        <p:spPr>
          <a:xfrm>
            <a:off x="4109400" y="4731840"/>
            <a:ext cx="3988800" cy="1141200"/>
          </a:xfrm>
          <a:prstGeom prst="roundRect">
            <a:avLst>
              <a:gd name="adj" fmla="val 12135"/>
            </a:avLst>
          </a:prstGeom>
          <a:solidFill>
            <a:schemeClr val="accent1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/>
            <a:r>
              <a:rPr b="1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Feeding intolerance, NEC, impact on immune system development and gut barrier integrity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喂养不耐受、坏死性小肠结肠炎（</a:t>
            </a: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NEC</a:t>
            </a:r>
            <a:r>
              <a:rPr b="1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）、对免疫系统发育及肠道屏障完整性的影响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7653240" y="6129360"/>
            <a:ext cx="4106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 i="0">
                <a:solidFill>
                  <a:schemeClr val="dk1"/>
                </a:solidFill>
                <a:effectLst/>
                <a:uFillTx/>
                <a:latin typeface="Arial"/>
              </a:rPr>
              <a:t>GI, gastrointestinal; NEC, necrotising enterocolitis; NICU, neonatal intensive care unit.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GI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：胃肠道；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NEC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：坏死性小肠结肠炎；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NICU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：新生儿重症监护病房。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feil nach unten 19"/>
          <p:cNvSpPr/>
          <p:nvPr/>
        </p:nvSpPr>
        <p:spPr>
          <a:xfrm>
            <a:off x="5868720" y="4465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feil nach unten 19"/>
          <p:cNvSpPr/>
          <p:nvPr/>
        </p:nvSpPr>
        <p:spPr>
          <a:xfrm>
            <a:off x="5868720" y="259452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Abgerundetes Rechteck 5"/>
          <p:cNvSpPr/>
          <p:nvPr/>
        </p:nvSpPr>
        <p:spPr>
          <a:xfrm>
            <a:off x="4079880" y="1932840"/>
            <a:ext cx="4048200" cy="68148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/>
            <a:r>
              <a:rPr b="1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Disturbed gut microbial colonisation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肠道微生物定植紊乱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feil nach unten 19"/>
          <p:cNvSpPr/>
          <p:nvPr/>
        </p:nvSpPr>
        <p:spPr>
          <a:xfrm rot="5400000">
            <a:off x="8071920" y="351144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Abgerundetes Rechteck 9"/>
          <p:cNvSpPr/>
          <p:nvPr/>
        </p:nvSpPr>
        <p:spPr>
          <a:xfrm>
            <a:off x="84632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85000" lnSpcReduction="19999"/>
          </a:bodyPr>
          <a:p>
            <a:r>
              <a:rPr b="1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External risk factors7-11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外部风险因素</a:t>
            </a: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Antibiotics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抗生素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Mode of delivery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分娩方式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 i="0">
                <a:solidFill>
                  <a:schemeClr val="lt1"/>
                </a:solidFill>
                <a:effectLst/>
                <a:uFillTx/>
                <a:latin typeface="Arial"/>
              </a:rPr>
              <a:t>NICU environment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NICU</a:t>
            </a: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环境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Skin to skin contact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皮肤接触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Breast milk exposure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母乳暴露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Medical complexity, inflammation, oxidative stress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医疗复杂性、炎症、氧化应激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2025-01-03T13:05:54Z</dcterms:created>
  <dc:creator>488460324@qq.com</dc:creator>
  <dc:description/>
  <dc:language>zh-CN</dc:language>
  <cp:lastModifiedBy>488460324@qq.com</cp:lastModifiedBy>
  <dcterms:modified xsi:type="dcterms:W3CDTF">2025-01-08T05:46:03Z</dcterms:modified>
  <cp:revision>6</cp:revision>
  <dc:subject/>
  <dc:title>A disturbed microbial colonisation of the GI tract contributes to feeding intolerance of preterm infants1-8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r8>1</vt:r8>
  </property>
</Properties>
</file>