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7" r:id="rId7"/>
    <p:sldMasterId id="2147483658" r:id="rId8"/>
    <p:sldMasterId id="2147483659" r:id="rId9"/>
    <p:sldMasterId id="2147483660" r:id="rId10"/>
    <p:sldMasterId id="2147483661" r:id="rId11"/>
    <p:sldMasterId id="2147483662" r:id="rId12"/>
  </p:sldMasterIdLst>
  <p:notesMasterIdLst>
    <p:notesMasterId r:id="rId13"/>
  </p:notesMasterIdLst>
  <p:sldIdLst>
    <p:sldId id="25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单击以移动幻灯片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B0DB973-1469-4BBA-A94A-B7172B4C941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6E4C81-F168-4A60-8CD2-47F9CCDB4A2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32E2DD-511E-4E9E-892E-218674EA47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35EDB3-D4CC-42C4-A628-B4F48A3885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1293C5B-FD26-4D1A-AA10-AA86FA4AE2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F2067C0-EFDB-448C-A171-9742570CF1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B7561B-87F9-440D-B4D3-A350A1AD38D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9D4B6A-4E4E-4C80-9ED1-74566DC5FC5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31CA3C-EF44-4E61-A90F-694296A9168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F29864-0C50-4A6C-9599-06AD418173A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576749-70D0-4DC8-9452-2E3DE215081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91CB69-5530-4E38-A469-53BA471FF42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69F33C-8E2E-496E-9CBC-CC014E12E62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4DE6A8-FE98-44FC-B651-B5C3953EABE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75BF10-354E-4BBA-861B-30AF8F642CB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711F0F-F12C-4FD1-957B-55B5905375E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1F4090-8187-484C-9A89-D7864EEB1FF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17"/>
          <p:cNvSpPr/>
          <p:nvPr/>
        </p:nvSpPr>
        <p:spPr>
          <a:xfrm>
            <a:off x="4699440" y="1821600"/>
            <a:ext cx="6784560" cy="3951720"/>
          </a:xfrm>
          <a:prstGeom prst="roundRect">
            <a:avLst>
              <a:gd name="adj" fmla="val 2746"/>
            </a:avLst>
          </a:prstGeom>
          <a:solidFill>
            <a:schemeClr val="lt1">
              <a:lumMod val="95000"/>
              <a:alpha val="5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4654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With HMO supplement (2’FL and LNnT), the mean </a:t>
            </a:r>
            <a:br>
              <a:rPr sz="2800"/>
            </a:b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time to reach full enteral feeding</a:t>
            </a:r>
            <a:r>
              <a:rPr b="0" lang="en-GB" sz="2800" strike="noStrike" u="none" baseline="30000">
                <a:solidFill>
                  <a:schemeClr val="dk1"/>
                </a:solidFill>
                <a:effectLst/>
                <a:uFillTx/>
                <a:latin typeface="等线 Light"/>
              </a:rPr>
              <a:t> </a:t>
            </a: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was 2 days shorter</a:t>
            </a:r>
            <a:r>
              <a:rPr b="0" lang="en-GB" sz="2800" strike="noStrike" u="none" baseline="30000">
                <a:solidFill>
                  <a:schemeClr val="dk1"/>
                </a:solidFill>
                <a:effectLst/>
                <a:uFillTx/>
                <a:latin typeface="等线 Light"/>
              </a:rPr>
              <a:t>1*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3" name="Textfeld 27"/>
          <p:cNvSpPr/>
          <p:nvPr/>
        </p:nvSpPr>
        <p:spPr>
          <a:xfrm>
            <a:off x="6123600" y="630792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GB" sz="800" strike="noStrike" u="none">
                <a:solidFill>
                  <a:schemeClr val="dk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2’FL, 2-fucosyllactose; HMO, human milk oligosaccharide; LNnT, Lacto-N-neotetraose.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3"/>
          <p:cNvSpPr/>
          <p:nvPr/>
        </p:nvSpPr>
        <p:spPr>
          <a:xfrm>
            <a:off x="6094800" y="653904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GB" sz="800" strike="noStrike" u="none">
                <a:solidFill>
                  <a:schemeClr val="dk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1. Hascoët JM et al., Abstract at WCPGHAN 2021. * Randomised, clinical trial 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994680" y="5078880"/>
            <a:ext cx="3072960" cy="87984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Faster progression to FEF may help reduce the risk of growth restriction and exacerbated gut immaturity</a:t>
            </a:r>
            <a:r>
              <a:rPr b="0" lang="en-GB" sz="1400" strike="noStrike" u="none" baseline="30000">
                <a:solidFill>
                  <a:schemeClr val="dk1"/>
                </a:solidFill>
                <a:effectLst/>
                <a:uFillTx/>
                <a:latin typeface="等线"/>
              </a:rPr>
              <a:t>1</a:t>
            </a:r>
            <a:r>
              <a:rPr b="0" lang="en-GB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  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grpSp>
        <p:nvGrpSpPr>
          <p:cNvPr id="76" name="Group 12"/>
          <p:cNvGrpSpPr/>
          <p:nvPr/>
        </p:nvGrpSpPr>
        <p:grpSpPr>
          <a:xfrm>
            <a:off x="5007960" y="2229120"/>
            <a:ext cx="6085080" cy="2846520"/>
            <a:chOff x="5007960" y="2229120"/>
            <a:chExt cx="6085080" cy="2846520"/>
          </a:xfrm>
        </p:grpSpPr>
        <p:sp>
          <p:nvSpPr>
            <p:cNvPr id="77" name="Abgerundetes Rechteck 5"/>
            <p:cNvSpPr/>
            <p:nvPr/>
          </p:nvSpPr>
          <p:spPr>
            <a:xfrm>
              <a:off x="5052240" y="2229120"/>
              <a:ext cx="3457440" cy="200880"/>
            </a:xfrm>
            <a:prstGeom prst="roundRect">
              <a:avLst>
                <a:gd name="adj" fmla="val 0"/>
              </a:avLst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400" strike="noStrike" u="none">
                  <a:solidFill>
                    <a:schemeClr val="accent1"/>
                  </a:solidFill>
                  <a:effectLst/>
                  <a:uFillTx/>
                  <a:latin typeface="Arial"/>
                </a:rPr>
                <a:t>Full enteral feeding^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8" name="Straight Connector 24"/>
            <p:cNvCxnSpPr/>
            <p:nvPr/>
          </p:nvCxnSpPr>
          <p:spPr>
            <a:xfrm>
              <a:off x="5135400" y="4770360"/>
              <a:ext cx="4555080" cy="360"/>
            </a:xfrm>
            <a:prstGeom prst="straightConnector1">
              <a:avLst/>
            </a:prstGeom>
            <a:ln w="12600">
              <a:solidFill>
                <a:schemeClr val="dk1">
                  <a:lumMod val="60000"/>
                  <a:lumOff val="40000"/>
                </a:schemeClr>
              </a:solidFill>
              <a:miter/>
            </a:ln>
          </p:spPr>
        </p:cxnSp>
        <p:sp>
          <p:nvSpPr>
            <p:cNvPr id="79" name="Rounded Rectangle 4"/>
            <p:cNvSpPr/>
            <p:nvPr/>
          </p:nvSpPr>
          <p:spPr>
            <a:xfrm>
              <a:off x="5135400" y="2597040"/>
              <a:ext cx="4142520" cy="883440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Placebo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Rounded Rectangle 36"/>
            <p:cNvSpPr/>
            <p:nvPr/>
          </p:nvSpPr>
          <p:spPr>
            <a:xfrm>
              <a:off x="5135400" y="3678480"/>
              <a:ext cx="3743640" cy="883440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200" strike="noStrike" u="none">
                  <a:solidFill>
                    <a:schemeClr val="lt2"/>
                  </a:solidFill>
                  <a:effectLst/>
                  <a:uFillTx/>
                  <a:latin typeface="Arial"/>
                </a:rPr>
                <a:t>HMO (2’FL, LNnT) supplement 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5"/>
            <p:cNvSpPr/>
            <p:nvPr/>
          </p:nvSpPr>
          <p:spPr>
            <a:xfrm>
              <a:off x="8562600" y="284904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14,3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TextBox 37"/>
            <p:cNvSpPr/>
            <p:nvPr/>
          </p:nvSpPr>
          <p:spPr>
            <a:xfrm>
              <a:off x="8092080" y="393552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12,2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Box 7"/>
            <p:cNvSpPr/>
            <p:nvPr/>
          </p:nvSpPr>
          <p:spPr>
            <a:xfrm>
              <a:off x="500796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38"/>
            <p:cNvSpPr/>
            <p:nvPr/>
          </p:nvSpPr>
          <p:spPr>
            <a:xfrm>
              <a:off x="652608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TextBox 39"/>
            <p:cNvSpPr/>
            <p:nvPr/>
          </p:nvSpPr>
          <p:spPr>
            <a:xfrm>
              <a:off x="804456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40"/>
            <p:cNvSpPr/>
            <p:nvPr/>
          </p:nvSpPr>
          <p:spPr>
            <a:xfrm>
              <a:off x="956268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Pfeil nach unten 19"/>
            <p:cNvSpPr/>
            <p:nvPr/>
          </p:nvSpPr>
          <p:spPr>
            <a:xfrm rot="5400000">
              <a:off x="9577440" y="3062160"/>
              <a:ext cx="880200" cy="21506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GB" sz="1800" strike="noStrike" u="none">
                <a:solidFill>
                  <a:schemeClr val="accen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88" name="TextBox 11"/>
            <p:cNvSpPr/>
            <p:nvPr/>
          </p:nvSpPr>
          <p:spPr>
            <a:xfrm>
              <a:off x="9244800" y="3943440"/>
              <a:ext cx="16466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2 days shorter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TextBox 14"/>
          <p:cNvSpPr/>
          <p:nvPr/>
        </p:nvSpPr>
        <p:spPr>
          <a:xfrm>
            <a:off x="5007960" y="5274720"/>
            <a:ext cx="44420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^Time to reach full enteral feeding is a reliable indicator of feeding tolerance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Graphic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92360" y="1552320"/>
            <a:ext cx="3752640" cy="375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LibreOffice/25.2.4.3$Windows_X86_64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2025-01-11T13:04:11Z</dcterms:created>
  <dc:creator>488460324@qq.com</dc:creator>
  <dc:description/>
  <dc:language>zh-CN</dc:language>
  <cp:lastModifiedBy>488460324@qq.com</cp:lastModifiedBy>
  <dcterms:modified xsi:type="dcterms:W3CDTF">2025-01-11T13:27:48Z</dcterms:modified>
  <cp:revision>2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宽屏</vt:lpwstr>
  </property>
  <property fmtid="{D5CDD505-2E9C-101B-9397-08002B2CF9AE}" pid="4" name="Slides">
    <vt:r8>1</vt:r8>
  </property>
</Properties>
</file>