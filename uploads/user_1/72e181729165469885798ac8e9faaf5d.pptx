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media/image2.svg" ContentType="image/sv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E7236B4-70F4-4BDC-8408-4411562DEF5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958248-D61A-4056-BDC7-5C66F2786D3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04C1B1-C5F5-40E7-8774-AC895F94973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0AFA57-3B87-40C2-BD07-0915BD625F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5C4C8B-198A-4583-8E69-73154D0F38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E76699-CE52-4870-8467-1FB29A641C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FB57D8-76B4-4F01-A7E8-16C866FB6A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317AE6-9200-48D1-B41E-1D82CB0C2D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00CA0-5C0F-4111-B463-F40E17D613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735078-DD22-4299-9E0E-3BB7B8E9F6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BC3AD3-5EF9-44E1-96F0-EF94896F5D7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C2EFA-B51C-4E0C-BE2D-50C8177932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0D297C-A8D7-486C-A690-68C6992F4A5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5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’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FL and LNnT), the mean 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time to reach full enteral feeding was 2 days shorter1*</a:t>
            </a:r>
            <a:br>
              <a:rPr sz="4400"/>
            </a:b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补充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HMO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（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’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FL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和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LNnT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）后，达到全肠内喂养的平均时间缩短了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天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1*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32500" lnSpcReduction="19999"/>
          </a:bodyPr>
          <a:p>
            <a:pPr algn="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2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’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FL, 2-fucosyllactose; HMO, human milk oligosaccharide; LNnT, Lacto-N-neotetraose.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2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’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FL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2-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岩藻糖基乳糖；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HMO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，人乳寡糖；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LNnT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，乳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-N-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新四糖。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32500" lnSpcReduction="19999"/>
          </a:bodyPr>
          <a:p>
            <a:pPr algn="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1. Hascoët JM et al., Abstract at WCPGHAN 2021. * Randomised, clinical trial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1. Hascoët JM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WCPGHAN 2021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摘要。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*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随机临床试验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47500" lnSpcReduction="19999"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br>
              <a:rPr sz="2800"/>
            </a:b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更快地达到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FEF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可能有助于降低生长受限和肠道不成熟加剧的风险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68" name="Group 12"/>
          <p:cNvGrpSpPr/>
          <p:nvPr/>
        </p:nvGrpSpPr>
        <p:grpSpPr>
          <a:xfrm>
            <a:off x="5007960" y="2229120"/>
            <a:ext cx="6085080" cy="2849400"/>
            <a:chOff x="5007960" y="2229120"/>
            <a:chExt cx="6085080" cy="2849400"/>
          </a:xfrm>
        </p:grpSpPr>
        <p:sp>
          <p:nvSpPr>
            <p:cNvPr id="69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0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700">
              <a:solidFill>
                <a:srgbClr val="000000">
                  <a:lumMod val="60000"/>
                  <a:lumOff val="40000"/>
                </a:srgbClr>
              </a:solidFill>
            </a:ln>
          </p:spPr>
        </p:cxnSp>
        <p:sp>
          <p:nvSpPr>
            <p:cNvPr id="71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5"/>
            <p:cNvSpPr/>
            <p:nvPr/>
          </p:nvSpPr>
          <p:spPr>
            <a:xfrm>
              <a:off x="8562600" y="2849040"/>
              <a:ext cx="6332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37"/>
            <p:cNvSpPr/>
            <p:nvPr/>
          </p:nvSpPr>
          <p:spPr>
            <a:xfrm>
              <a:off x="8092080" y="3935520"/>
              <a:ext cx="6332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7"/>
            <p:cNvSpPr/>
            <p:nvPr/>
          </p:nvSpPr>
          <p:spPr>
            <a:xfrm>
              <a:off x="5007960" y="4832640"/>
              <a:ext cx="2548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38"/>
            <p:cNvSpPr/>
            <p:nvPr/>
          </p:nvSpPr>
          <p:spPr>
            <a:xfrm>
              <a:off x="6526080" y="4832640"/>
              <a:ext cx="2548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39"/>
            <p:cNvSpPr/>
            <p:nvPr/>
          </p:nvSpPr>
          <p:spPr>
            <a:xfrm>
              <a:off x="8044560" y="4832640"/>
              <a:ext cx="3254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40"/>
            <p:cNvSpPr/>
            <p:nvPr/>
          </p:nvSpPr>
          <p:spPr>
            <a:xfrm>
              <a:off x="9562680" y="4832640"/>
              <a:ext cx="3254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0" name="TextBox 11"/>
            <p:cNvSpPr/>
            <p:nvPr/>
          </p:nvSpPr>
          <p:spPr>
            <a:xfrm>
              <a:off x="9244800" y="3943440"/>
              <a:ext cx="17618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40000" lnSpcReduction="1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^Time to reach full enteral feeding is a reliable indicator of feeding tolerance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^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达到全肠内喂养的时间是喂养耐受性的可靠指标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LibreOffice/25.2.3.2$Windows_X86_64 LibreOffice_project/bbb074479178df812d175f709636b368952c2ce3</Application>
  <AppVersion>15.0000</AppVersion>
  <Words>115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