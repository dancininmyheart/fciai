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5" r:id="rId21"/>
    <p:sldMasterId id="2147483686" r:id="rId22"/>
    <p:sldMasterId id="2147483687" r:id="rId23"/>
    <p:sldMasterId id="2147483688" r:id="rId24"/>
    <p:sldMasterId id="2147483689" r:id="rId25"/>
    <p:sldMasterId id="2147483690" r:id="rId26"/>
  </p:sldMasterIdLst>
  <p:sldIdLst>
    <p:sldId id="256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" Target="slides/slide1.xml"/><Relationship Id="rId28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554FBC-5B2A-4504-B162-F5912AE5D0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BACE58-ADA7-45D8-9538-FA810706D1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86B11A7-877C-48FA-AE14-49695E2C4B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ADDCA19-4485-4264-99E5-6E45171B47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A2706C6-C374-4ECD-9E11-1BF0A3DDB2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27D52AF-0318-40BF-ABC7-7FBA480AF1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6EE1772-31B9-4968-9239-43458F84BD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4875C2D-9A15-480A-BF1F-BFF1E47D37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1FAF496-F8E2-4CD0-9591-B13B5F26EF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FD8302C-AD86-41F7-B6DF-6223EFE5B9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75CF85D-877E-4E1D-8A30-5CFFB81510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2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3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EB32FA69-DCB5-4963-B8B1-C6D37B034CFD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D7D362-BF42-4647-AE16-6511C657C17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D38B2-635B-474C-BDE0-EE1420507D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EB3773-3286-4859-B017-B79E399115E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E9D179-F885-431F-AD1F-A45C2FE443B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F45C38-B475-40AE-AF0E-6E92551687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F14AA2-376D-4622-B009-77409E9F78D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E6ED1F-09A6-4177-9CE9-05A14EBC700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A6FC8A-9DDE-4A1B-8C88-4F30B6CED9D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1AE284-4FDC-4CF4-B131-88D53ACA80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399F4D-9E5D-4CED-BF64-9CED2BDD3A0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5FFDA4-A235-4D45-BB93-3C78AF8C5E1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GB" sz="36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2" descr="A picture containing person&#10;&#10;Description automatically generated"/>
          <p:cNvPicPr/>
          <p:nvPr/>
        </p:nvPicPr>
        <p:blipFill>
          <a:blip r:embed="rId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5" name="Straight Connector 3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7" name="Graphic 5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15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3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5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7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3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1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3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7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8" name="Straight Connector 7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0" name="Graphic 1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444560" y="0"/>
            <a:ext cx="7747200" cy="685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6"/>
          <p:cNvSpPr/>
          <p:nvPr/>
        </p:nvSpPr>
        <p:spPr>
          <a:xfrm>
            <a:off x="518760" y="6228360"/>
            <a:ext cx="1782000" cy="5691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6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34"/>
          </p:nvPr>
        </p:nvSpPr>
        <p:spPr>
          <a:xfrm>
            <a:off x="4804200" y="6356520"/>
            <a:ext cx="654912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295316C-35AC-4137-927C-F760010D715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&lt;编号&gt;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Straight Connector 8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47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4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Straight Connector 8"/>
          <p:cNvCxnSpPr/>
          <p:nvPr/>
        </p:nvCxnSpPr>
        <p:spPr>
          <a:xfrm>
            <a:off x="963720" y="440316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32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664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839880" y="1779480"/>
            <a:ext cx="515736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839880" y="260316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6172200" y="1779480"/>
            <a:ext cx="518292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6172200" y="260316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Straight Connector 15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4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Straight Connector 6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8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1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Straight Connector 8"/>
          <p:cNvCxnSpPr/>
          <p:nvPr/>
        </p:nvCxnSpPr>
        <p:spPr>
          <a:xfrm>
            <a:off x="945720" y="184824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839880" y="2360880"/>
            <a:ext cx="3931920" cy="350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Straight Connector 7"/>
          <p:cNvCxnSpPr/>
          <p:nvPr/>
        </p:nvCxnSpPr>
        <p:spPr>
          <a:xfrm>
            <a:off x="945720" y="220680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2" descr=""/>
          <p:cNvPicPr/>
          <p:nvPr/>
        </p:nvPicPr>
        <p:blipFill>
          <a:blip r:embed="rId4"/>
          <a:stretch/>
        </p:blipFill>
        <p:spPr>
          <a:xfrm flipH="1">
            <a:off x="2491560" y="0"/>
            <a:ext cx="9700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05760" y="260604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62" name="Graphic 9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feil nach unten 19"/>
          <p:cNvSpPr/>
          <p:nvPr/>
        </p:nvSpPr>
        <p:spPr>
          <a:xfrm rot="16200000">
            <a:off x="3675240" y="3511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Abgerundetes Rechteck 9"/>
          <p:cNvSpPr/>
          <p:nvPr/>
        </p:nvSpPr>
        <p:spPr>
          <a:xfrm>
            <a:off x="8600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r>
              <a:rPr b="1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Internal risk factors7-10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内部风险因素</a:t>
            </a:r>
            <a:r>
              <a:rPr b="1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7-10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Gestational 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胎龄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Birth weight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出生体重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Genetics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遗传因素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 utero colonisation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子宫内定植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6282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92500" lnSpcReduction="9999"/>
          </a:bodyPr>
          <a:p>
            <a:pPr indent="0">
              <a:buNone/>
            </a:pPr>
            <a:r>
              <a:rPr b="1" lang="en-US" sz="2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A disturbed microbial colonisation of the GI tract contributes to feeding intolerance of preterm infants1-8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1" lang="zh-CN" sz="2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胃肠道微生物定植紊乱导致早产儿喂养不耐受</a:t>
            </a:r>
            <a:r>
              <a:rPr b="1" lang="en-US" sz="2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1-8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3987720" y="6370560"/>
            <a:ext cx="7772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62500" lnSpcReduction="19999"/>
          </a:bodyPr>
          <a:p>
            <a:r>
              <a:rPr b="0" lang="en-US" sz="800" strike="noStrike" u="none" i="0">
                <a:solidFill>
                  <a:schemeClr val="dk1"/>
                </a:solidFill>
                <a:effectLst/>
                <a:uFillTx/>
                <a:latin typeface="Arial"/>
              </a:rPr>
              <a:t>1. Di Mauro A et al., 2013; 2. Ford SL et al., 2019; 3. Fanaro S, 2013; 4. Senterre T, 2014; 5. Fouhy F et al., 2019; 6. Yuan Z et al., 2019;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 i="0">
                <a:solidFill>
                  <a:schemeClr val="dk1"/>
                </a:solidFill>
                <a:effectLst/>
                <a:uFillTx/>
                <a:latin typeface="Arial"/>
              </a:rPr>
              <a:t>1. Di Mauro A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2013; 2. Ford SL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 3. Fanaro S, 2013; 4. Senterre T, 2014; 5. Fouhy F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 6. Yuan Z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Collado C et al., 2015; 8. Hendrickx JGE et al., 2019; 9. Lenfestey MW and Neu J, 2018; 10. Unger S et al., 2015; 11. Greenwood C et al., 2014.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Collado C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2015; 8. Hendrickx JGE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 9. Lenfestey MW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和 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Neu J, 2018; 10. Unger S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2015; 11. Greenwood C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2014.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Abgerundetes Rechteck 9"/>
          <p:cNvSpPr/>
          <p:nvPr/>
        </p:nvSpPr>
        <p:spPr>
          <a:xfrm>
            <a:off x="4109400" y="2870640"/>
            <a:ext cx="3988800" cy="1604880"/>
          </a:xfrm>
          <a:prstGeom prst="roundRect">
            <a:avLst>
              <a:gd name="adj" fmla="val 7857"/>
            </a:avLst>
          </a:prstGeom>
          <a:solidFill>
            <a:schemeClr val="lt1"/>
          </a:solidFill>
          <a:ln w="19080">
            <a:solidFill>
              <a:schemeClr val="accent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92500" lnSpcReduction="9999"/>
          </a:bodyPr>
          <a:p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Delayed colonization of commensal bacteria, such as Bifidobacteria, Lactobacillus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共生细菌如双歧杆菌、乳酸杆菌的定植延迟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Limited microbial diversity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微生物多样性有限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Microbial disturbances persist up to 4 years of 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微生物紊乱可持续到</a:t>
            </a: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4</a:t>
            </a: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岁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Abgerundetes Rechteck 13"/>
          <p:cNvSpPr/>
          <p:nvPr/>
        </p:nvSpPr>
        <p:spPr>
          <a:xfrm>
            <a:off x="4109400" y="4731840"/>
            <a:ext cx="3988800" cy="1141200"/>
          </a:xfrm>
          <a:prstGeom prst="roundRect">
            <a:avLst>
              <a:gd name="adj" fmla="val 12135"/>
            </a:avLst>
          </a:prstGeom>
          <a:solidFill>
            <a:schemeClr val="accent1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algn="ctr"/>
            <a:r>
              <a:rPr b="1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Feeding intolerance, NEC, impact on immune system development and gut barrier integrity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喂养不耐受、坏死性小肠结肠炎、对免疫系统发育和肠道屏障完整性的影响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7653240" y="6129360"/>
            <a:ext cx="4106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 i="0">
                <a:solidFill>
                  <a:schemeClr val="dk1"/>
                </a:solidFill>
                <a:effectLst/>
                <a:uFillTx/>
                <a:latin typeface="Arial"/>
              </a:rPr>
              <a:t>GI, gastrointestinal; NEC, necrotising enterocolitis; NICU, neonatal intensive care unit.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GI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，胃肠道；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NEC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，坏死性小肠结肠炎；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NICU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，新生儿重症监护病房。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feil nach unten 19"/>
          <p:cNvSpPr/>
          <p:nvPr/>
        </p:nvSpPr>
        <p:spPr>
          <a:xfrm>
            <a:off x="5868720" y="4465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feil nach unten 19"/>
          <p:cNvSpPr/>
          <p:nvPr/>
        </p:nvSpPr>
        <p:spPr>
          <a:xfrm>
            <a:off x="5868720" y="259452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Abgerundetes Rechteck 5"/>
          <p:cNvSpPr/>
          <p:nvPr/>
        </p:nvSpPr>
        <p:spPr>
          <a:xfrm>
            <a:off x="4079880" y="1932840"/>
            <a:ext cx="4048200" cy="68148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algn="ctr"/>
            <a:r>
              <a:rPr b="1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Disturbed gut microbial colonisation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肠道微生物定植紊乱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Pfeil nach unten 19"/>
          <p:cNvSpPr/>
          <p:nvPr/>
        </p:nvSpPr>
        <p:spPr>
          <a:xfrm rot="5400000">
            <a:off x="8071920" y="351144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Abgerundetes Rechteck 9"/>
          <p:cNvSpPr/>
          <p:nvPr/>
        </p:nvSpPr>
        <p:spPr>
          <a:xfrm>
            <a:off x="84632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85000" lnSpcReduction="19999"/>
          </a:bodyPr>
          <a:p>
            <a:r>
              <a:rPr b="1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External risk factors7-11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外部风险因素</a:t>
            </a:r>
            <a:r>
              <a:rPr b="1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7-11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Antibiotics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抗生素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Mode of delivery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分娩方式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NICU environment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NICU</a:t>
            </a: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环境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Skin to skin contact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皮肤接触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Breast milk exposure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母乳接触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Medical complexity, inflammation, oxidative stress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医疗复杂性、炎症、氧化应激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2025-01-03T13:05:54Z</dcterms:created>
  <dc:creator>488460324@qq.com</dc:creator>
  <dc:description/>
  <dc:language>zh-CN</dc:language>
  <cp:lastModifiedBy>488460324@qq.com</cp:lastModifiedBy>
  <dcterms:modified xsi:type="dcterms:W3CDTF">2025-01-08T05:46:03Z</dcterms:modified>
  <cp:revision>6</cp:revision>
  <dc:subject/>
  <dc:title>A disturbed microbial colonisation of the GI tract contributes to feeding intolerance of preterm infants1-8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r8>1</vt:r8>
  </property>
</Properties>
</file>