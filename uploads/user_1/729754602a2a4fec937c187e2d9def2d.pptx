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5" r:id="rId21"/>
    <p:sldMasterId id="2147483686" r:id="rId22"/>
    <p:sldMasterId id="2147483687" r:id="rId23"/>
    <p:sldMasterId id="2147483688" r:id="rId24"/>
    <p:sldMasterId id="2147483689" r:id="rId25"/>
    <p:sldMasterId id="2147483690" r:id="rId26"/>
  </p:sldMasterIdLst>
  <p:sldIdLst>
    <p:sldId id="256" r:id="rId2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" Target="slides/slide1.xml"/><Relationship Id="rId28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86C225-0A3C-4BD6-B21C-674B6BCE9F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4E023F-CAB3-4575-A17D-EC90473B39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B5CAF21-EB5E-4374-AD4F-9AA1DB7851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E6DB98B-2798-4E8E-980A-1DC388380D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646F85A-B937-4D75-8CE1-CAACD24465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5305322-6B8E-4730-8307-7032545223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C1169097-B7CE-44B8-BA7E-2B9903E840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C6D1567-0B0D-459A-BFE1-161454A640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5CA6049-6FB1-42C9-BCF7-87F3B1A536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2F60C39-09CA-4449-87A8-EEFCFCD21D9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8AA95484-0DCD-4773-9C4B-68DB162645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2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3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2B91ED2E-A46E-471C-B796-4B741E85E410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Layout" Target="../slideLayouts/slideLayout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jpe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Layout" Target="../slideLayouts/slideLayout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.jpe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Layout" Target="../slideLayouts/slideLayout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slideLayout" Target="../slideLayouts/slideLayout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22A633-DCE7-4F1D-81E7-E909461032D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1CF160-679B-497A-A22E-3993BA803CA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FD049F-CBCE-4BF1-92DA-1DA4EA35C4D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A40812-61FF-422F-BC20-E682AE7E331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zh-CN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005556-52DD-4BC6-936C-566B15A7C72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057BEB-CACC-4521-B941-DC9B2C35848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457AC9-CBCD-43CB-94E5-9782DEF435A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9E7082-FB2C-42F7-A1F7-9F926DAC59B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2EC766-1F09-45AC-8E56-D3A467362E1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E1A9E4-AFF9-4F5C-89BE-D93FC0936DA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8FD1BD-BCD4-48CA-A5C4-1182F53CC27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GB" sz="36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Picture 2" descr="A picture containing person&#10;&#10;Description automatically generated"/>
          <p:cNvPicPr/>
          <p:nvPr/>
        </p:nvPicPr>
        <p:blipFill>
          <a:blip r:embed="rId4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85" name="Straight Connector 3"/>
          <p:cNvCxnSpPr/>
          <p:nvPr/>
        </p:nvCxnSpPr>
        <p:spPr>
          <a:xfrm>
            <a:off x="842400" y="3885120"/>
            <a:ext cx="724320" cy="360"/>
          </a:xfrm>
          <a:prstGeom prst="straightConnector1">
            <a:avLst/>
          </a:prstGeom>
          <a:ln w="54000">
            <a:solidFill>
              <a:srgbClr val="2fb85d"/>
            </a:solidFill>
            <a:miter/>
          </a:ln>
        </p:spPr>
      </p:cxn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703440" y="2313720"/>
            <a:ext cx="482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87" name="Graphic 5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18760" y="507240"/>
            <a:ext cx="2095200" cy="82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703440" y="4247640"/>
            <a:ext cx="482040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7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Picture 15" descr=""/>
          <p:cNvPicPr/>
          <p:nvPr/>
        </p:nvPicPr>
        <p:blipFill>
          <a:blip r:embed="rId4"/>
          <a:stretch/>
        </p:blipFill>
        <p:spPr>
          <a:xfrm flipH="1">
            <a:off x="1901880" y="0"/>
            <a:ext cx="10290240" cy="68576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93" name="Straight Connector 4"/>
          <p:cNvCxnSpPr/>
          <p:nvPr/>
        </p:nvCxnSpPr>
        <p:spPr>
          <a:xfrm>
            <a:off x="842400" y="3885120"/>
            <a:ext cx="724320" cy="360"/>
          </a:xfrm>
          <a:prstGeom prst="straightConnector1">
            <a:avLst/>
          </a:prstGeom>
          <a:ln w="54000">
            <a:solidFill>
              <a:srgbClr val="2fb85d"/>
            </a:solidFill>
            <a:miter/>
          </a:ln>
        </p:spPr>
      </p:cxn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03440" y="2313720"/>
            <a:ext cx="482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95" name="Graphic 6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18760" y="507240"/>
            <a:ext cx="2095200" cy="82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703440" y="4247640"/>
            <a:ext cx="482040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7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13" descr=""/>
          <p:cNvPicPr/>
          <p:nvPr/>
        </p:nvPicPr>
        <p:blipFill>
          <a:blip r:embed="rId4"/>
          <a:stretch/>
        </p:blipFill>
        <p:spPr>
          <a:xfrm flipH="1">
            <a:off x="1901880" y="0"/>
            <a:ext cx="10290240" cy="68576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1" name="Straight Connector 4"/>
          <p:cNvCxnSpPr/>
          <p:nvPr/>
        </p:nvCxnSpPr>
        <p:spPr>
          <a:xfrm>
            <a:off x="842400" y="3885120"/>
            <a:ext cx="724320" cy="360"/>
          </a:xfrm>
          <a:prstGeom prst="straightConnector1">
            <a:avLst/>
          </a:prstGeom>
          <a:ln w="54000">
            <a:solidFill>
              <a:srgbClr val="2fb85d"/>
            </a:solidFill>
            <a:miter/>
          </a:ln>
        </p:spPr>
      </p:cxn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703440" y="2313720"/>
            <a:ext cx="482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03" name="Graphic 6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18760" y="507240"/>
            <a:ext cx="2095200" cy="82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703440" y="4247640"/>
            <a:ext cx="482040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7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8" name="Straight Connector 7"/>
          <p:cNvCxnSpPr/>
          <p:nvPr/>
        </p:nvCxnSpPr>
        <p:spPr>
          <a:xfrm>
            <a:off x="842400" y="3885120"/>
            <a:ext cx="724320" cy="360"/>
          </a:xfrm>
          <a:prstGeom prst="straightConnector1">
            <a:avLst/>
          </a:prstGeom>
          <a:ln w="54000">
            <a:solidFill>
              <a:srgbClr val="2fb85d"/>
            </a:solidFill>
            <a:miter/>
          </a:ln>
        </p:spPr>
      </p:cxn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703440" y="2313720"/>
            <a:ext cx="482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10" name="Graphic 11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18760" y="507240"/>
            <a:ext cx="2095200" cy="82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703440" y="4247640"/>
            <a:ext cx="482040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4444560" y="0"/>
            <a:ext cx="7747200" cy="685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点击以编辑提纲文本格式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第二提纲级别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16"/>
          <p:cNvSpPr/>
          <p:nvPr/>
        </p:nvSpPr>
        <p:spPr>
          <a:xfrm>
            <a:off x="518760" y="6228360"/>
            <a:ext cx="1782000" cy="569160"/>
          </a:xfrm>
          <a:prstGeom prst="rect">
            <a:avLst/>
          </a:prstGeom>
          <a:solidFill>
            <a:schemeClr val="l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6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34"/>
          </p:nvPr>
        </p:nvSpPr>
        <p:spPr>
          <a:xfrm>
            <a:off x="4804200" y="6356520"/>
            <a:ext cx="654912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1BF2897-E7CE-460A-A5EF-7AC4A1B942BA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&lt;编号&gt;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4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25" name="Straight Connector 8"/>
          <p:cNvCxnSpPr/>
          <p:nvPr/>
        </p:nvCxnSpPr>
        <p:spPr>
          <a:xfrm>
            <a:off x="963720" y="154332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4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47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48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31" name="Straight Connector 8"/>
          <p:cNvCxnSpPr/>
          <p:nvPr/>
        </p:nvCxnSpPr>
        <p:spPr>
          <a:xfrm>
            <a:off x="963720" y="440316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  <p:sp>
        <p:nvSpPr>
          <p:cNvPr id="132" name="Slide Number Placeholder 5"/>
          <p:cNvSpPr/>
          <p:nvPr/>
        </p:nvSpPr>
        <p:spPr>
          <a:xfrm>
            <a:off x="5456520" y="6356520"/>
            <a:ext cx="5897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Refs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3664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839880" y="1779480"/>
            <a:ext cx="5157360" cy="8236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algn="ctr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839880" y="260316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6172200" y="1779480"/>
            <a:ext cx="5182920" cy="8236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5"/>
          <p:cNvSpPr>
            <a:spLocks noGrp="1"/>
          </p:cNvSpPr>
          <p:nvPr>
            <p:ph type="body"/>
          </p:nvPr>
        </p:nvSpPr>
        <p:spPr>
          <a:xfrm>
            <a:off x="6172200" y="260316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43" name="Straight Connector 15"/>
          <p:cNvCxnSpPr/>
          <p:nvPr/>
        </p:nvCxnSpPr>
        <p:spPr>
          <a:xfrm>
            <a:off x="963720" y="154332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  <p:sp>
        <p:nvSpPr>
          <p:cNvPr id="144" name="Slide Number Placeholder 5"/>
          <p:cNvSpPr/>
          <p:nvPr/>
        </p:nvSpPr>
        <p:spPr>
          <a:xfrm>
            <a:off x="5456520" y="6356520"/>
            <a:ext cx="5897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Refs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47" name="Straight Connector 6"/>
          <p:cNvCxnSpPr/>
          <p:nvPr/>
        </p:nvCxnSpPr>
        <p:spPr>
          <a:xfrm>
            <a:off x="963720" y="154332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  <p:sp>
        <p:nvSpPr>
          <p:cNvPr id="148" name="Slide Number Placeholder 5"/>
          <p:cNvSpPr/>
          <p:nvPr/>
        </p:nvSpPr>
        <p:spPr>
          <a:xfrm>
            <a:off x="5456520" y="6356520"/>
            <a:ext cx="5897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Refs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1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53" name="Straight Connector 8"/>
          <p:cNvCxnSpPr/>
          <p:nvPr/>
        </p:nvCxnSpPr>
        <p:spPr>
          <a:xfrm>
            <a:off x="945720" y="184824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点击以编辑提纲文本格式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第二提纲级别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body"/>
          </p:nvPr>
        </p:nvSpPr>
        <p:spPr>
          <a:xfrm>
            <a:off x="839880" y="2360880"/>
            <a:ext cx="3931920" cy="350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58" name="Straight Connector 7"/>
          <p:cNvCxnSpPr/>
          <p:nvPr/>
        </p:nvCxnSpPr>
        <p:spPr>
          <a:xfrm>
            <a:off x="945720" y="220680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Picture 2" descr=""/>
          <p:cNvPicPr/>
          <p:nvPr/>
        </p:nvPicPr>
        <p:blipFill>
          <a:blip r:embed="rId4"/>
          <a:stretch/>
        </p:blipFill>
        <p:spPr>
          <a:xfrm flipH="1">
            <a:off x="2491560" y="0"/>
            <a:ext cx="97005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905760" y="2606040"/>
            <a:ext cx="482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62" name="Graphic 9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18760" y="507240"/>
            <a:ext cx="2095200" cy="82512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feil nach unten 19"/>
          <p:cNvSpPr/>
          <p:nvPr/>
        </p:nvSpPr>
        <p:spPr>
          <a:xfrm rot="16200000">
            <a:off x="3675240" y="3511800"/>
            <a:ext cx="470880" cy="336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>
              <a:lumMod val="40000"/>
              <a:lumOff val="6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Abgerundetes Rechteck 9"/>
          <p:cNvSpPr/>
          <p:nvPr/>
        </p:nvSpPr>
        <p:spPr>
          <a:xfrm>
            <a:off x="860040" y="2870640"/>
            <a:ext cx="2892960" cy="3002400"/>
          </a:xfrm>
          <a:prstGeom prst="roundRect">
            <a:avLst>
              <a:gd name="adj" fmla="val 3823"/>
            </a:avLst>
          </a:prstGeom>
          <a:solidFill>
            <a:schemeClr val="lt2"/>
          </a:solidFill>
          <a:ln w="19080">
            <a:solidFill>
              <a:srgbClr val="b125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 lnSpcReduction="9999"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Internal risk factors7-10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内部风险因素</a:t>
            </a: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7-10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Gestational age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胎龄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Birth weight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出生体重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Genetics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遗传因素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 utero colonisation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子宫内定植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628280" cy="11613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ctr">
            <a:normAutofit fontScale="925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A disturbed microbial colonisation of the GI tract contributes to feeding intolerance of preterm infants1-8</a:t>
            </a:r>
            <a:br>
              <a:rPr sz="3200"/>
            </a:br>
            <a:r>
              <a:rPr b="1" lang="zh-CN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胃肠道微生物定植紊乱导致早产儿喂养不耐受</a:t>
            </a:r>
            <a:r>
              <a:rPr b="1" lang="en-US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1-8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3"/>
          <p:cNvSpPr/>
          <p:nvPr/>
        </p:nvSpPr>
        <p:spPr>
          <a:xfrm>
            <a:off x="3987720" y="6370560"/>
            <a:ext cx="77720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 fontScale="25000" lnSpcReduction="19999"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1. Di Mauro A et al., 2013; 2. Ford SL et al., 2019; 3. Fanaro S, 2013; 4. Senterre T, 2014; 5. Fouhy F et al., 2019; 6. Yuan Z et al., 2019;</a:t>
            </a:r>
            <a:br>
              <a:rPr sz="1800"/>
            </a:b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1. Di Mauro A 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2013; 2. Ford SL 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2019; 3. Fanaro S, 2013; 4. Senterre T, 2014; 5. Fouhy F 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2019; 6. Yuan Z 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2019;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7. Collado C et al., 2015; 8. Hendrickx JGE et al., 2019; 9. Lenfestey MW and Neu J, 2018; 10. Unger S et al., 2015; 11. Greenwood C et al., 2014.</a:t>
            </a:r>
            <a:br>
              <a:rPr sz="1800"/>
            </a:b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7. Collado C 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2015; 8. Hendrickx JGE 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2019; 9. Lenfestey MW 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和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Neu J, 2018; 10. Unger S 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2015; 11. Greenwood C 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2014.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Abgerundetes Rechteck 9"/>
          <p:cNvSpPr/>
          <p:nvPr/>
        </p:nvSpPr>
        <p:spPr>
          <a:xfrm>
            <a:off x="4109400" y="2870640"/>
            <a:ext cx="3988800" cy="1604880"/>
          </a:xfrm>
          <a:prstGeom prst="roundRect">
            <a:avLst>
              <a:gd name="adj" fmla="val 7857"/>
            </a:avLst>
          </a:prstGeom>
          <a:solidFill>
            <a:schemeClr val="lt1"/>
          </a:solidFill>
          <a:ln w="19080">
            <a:solidFill>
              <a:schemeClr val="accent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 fontScale="77500" lnSpcReduction="19999"/>
          </a:bodyPr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Delayed colonization of commensal bacteria, such as Bifidobacteria, Lactobacillus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共生菌如双歧杆菌、乳酸杆菌的定植延迟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Limited microbial diversity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微生物多样性有限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Microbial disturbances persist up to 4 years of age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微生物紊乱可持续到</a:t>
            </a: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4</a:t>
            </a: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岁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Abgerundetes Rechteck 13"/>
          <p:cNvSpPr/>
          <p:nvPr/>
        </p:nvSpPr>
        <p:spPr>
          <a:xfrm>
            <a:off x="4109400" y="4731840"/>
            <a:ext cx="3988800" cy="1141200"/>
          </a:xfrm>
          <a:prstGeom prst="roundRect">
            <a:avLst>
              <a:gd name="adj" fmla="val 12135"/>
            </a:avLst>
          </a:prstGeom>
          <a:solidFill>
            <a:schemeClr val="accent1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 fontScale="92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Feeding intolerance, NEC, impact on immune system development and gut barrier integrity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喂养不耐受、坏死性小肠结肠炎、对免疫系统发育和肠道屏障完整性的影响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8"/>
          <p:cNvSpPr/>
          <p:nvPr/>
        </p:nvSpPr>
        <p:spPr>
          <a:xfrm>
            <a:off x="7653240" y="6129360"/>
            <a:ext cx="41068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32500" lnSpcReduction="19999"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GI, gastrointestinal; NEC, necrotising enterocolitis; NICU, neonatal intensive care unit.</a:t>
            </a:r>
            <a:br>
              <a:rPr sz="1800"/>
            </a:b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GI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，胃肠道；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NEC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，坏死性小肠结肠炎；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NICU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，新生儿重症监护病房。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feil nach unten 19"/>
          <p:cNvSpPr/>
          <p:nvPr/>
        </p:nvSpPr>
        <p:spPr>
          <a:xfrm>
            <a:off x="5868720" y="4465800"/>
            <a:ext cx="470880" cy="336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>
              <a:lumMod val="40000"/>
              <a:lumOff val="6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500" lnSpcReduction="19999"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Pfeil nach unten 19"/>
          <p:cNvSpPr/>
          <p:nvPr/>
        </p:nvSpPr>
        <p:spPr>
          <a:xfrm>
            <a:off x="5868720" y="2594520"/>
            <a:ext cx="470880" cy="336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>
              <a:lumMod val="40000"/>
              <a:lumOff val="6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500" lnSpcReduction="19999"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Abgerundetes Rechteck 5"/>
          <p:cNvSpPr/>
          <p:nvPr/>
        </p:nvSpPr>
        <p:spPr>
          <a:xfrm>
            <a:off x="4079880" y="1932840"/>
            <a:ext cx="4048200" cy="68148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Disturbed gut microbial colonisation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肠道微生物定植紊乱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Pfeil nach unten 19"/>
          <p:cNvSpPr/>
          <p:nvPr/>
        </p:nvSpPr>
        <p:spPr>
          <a:xfrm rot="5400000">
            <a:off x="8071920" y="3511440"/>
            <a:ext cx="470880" cy="336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>
              <a:lumMod val="40000"/>
              <a:lumOff val="6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Abgerundetes Rechteck 9"/>
          <p:cNvSpPr/>
          <p:nvPr/>
        </p:nvSpPr>
        <p:spPr>
          <a:xfrm>
            <a:off x="8463240" y="2870640"/>
            <a:ext cx="2892960" cy="3002400"/>
          </a:xfrm>
          <a:prstGeom prst="roundRect">
            <a:avLst>
              <a:gd name="adj" fmla="val 3823"/>
            </a:avLst>
          </a:prstGeom>
          <a:solidFill>
            <a:schemeClr val="lt2"/>
          </a:solidFill>
          <a:ln w="19080">
            <a:solidFill>
              <a:srgbClr val="b1255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 fontScale="77500" lnSpcReduction="19999"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External risk factors7-11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外部风险因素</a:t>
            </a: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7-11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Antibiotics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抗生素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Mode of delivery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分娩方式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NICU environment</a:t>
            </a:r>
            <a:br>
              <a:rPr sz="1800"/>
            </a:b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NICU</a:t>
            </a: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环境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Skin to skin contact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皮肤接触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Breast milk exposure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母乳接触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Medical complexity, inflammation, oxidative stress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医疗复杂性、炎症、氧化应激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465</TotalTime>
  <Application>LibreOffice/25.2.4.3$Windows_X86_64 LibreOffice_project/33e196637044ead23f5c3226cde09b47731f7e27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2025-01-03T13:05:54Z</dcterms:created>
  <dc:creator>488460324@qq.com</dc:creator>
  <dc:description/>
  <dc:language>zh-CN</dc:language>
  <cp:lastModifiedBy>488460324@qq.com</cp:lastModifiedBy>
  <dcterms:modified xsi:type="dcterms:W3CDTF">2025-01-08T05:46:03Z</dcterms:modified>
  <cp:revision>6</cp:revision>
  <dc:subject/>
  <dc:title>A disturbed microbial colonisation of the GI tract contributes to feeding intolerance of preterm infants1-8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宽屏</vt:lpwstr>
  </property>
  <property fmtid="{D5CDD505-2E9C-101B-9397-08002B2CF9AE}" pid="3" name="Slides">
    <vt:r8>1</vt:r8>
  </property>
</Properties>
</file>