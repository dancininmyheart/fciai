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notesMasterIdLst>
    <p:notesMasterId r:id="rId13"/>
  </p:notesMasterIdLst>
  <p:sldIdLst>
    <p:sldId id="25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156F2E-A037-4922-8BE0-7323D7B11EC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FD3518-B80C-4DEF-88B6-C4FA7AAC3F5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3B274-234A-4A4F-A300-FE28A88D9D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68F60C-F722-491D-BD16-D2775DF2E0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1B1987-4514-4C0D-9646-2D33700966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D31124-D229-4A1E-89C3-F76B51764D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840E5A-F24A-4A86-B3AE-1E182A89FE8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9F3676-C2A2-4E63-9B38-8A90E53790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2D23E-9C11-48A1-BF7B-56CE837683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1ECF80-6501-4609-B5D4-8518FE460A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85A1FB-3A1E-402A-B676-4272A97AE5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867A98-DE05-4FFA-8F2B-534CD7F5636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9A80F7-9D8E-4ED2-91A7-6498ABB0F82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AF792-C9F3-41D8-A2E8-E4DE26862A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33BFDE-55BF-4EE2-95E4-DBDDC623D6A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A93A23-E1BD-4ECA-A1D7-5EA241A5209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37A1DA-8A7D-4724-928C-6B9B069E78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 17"/>
          <p:cNvSpPr/>
          <p:nvPr/>
        </p:nvSpPr>
        <p:spPr>
          <a:xfrm>
            <a:off x="4699440" y="1821600"/>
            <a:ext cx="6784560" cy="3951720"/>
          </a:xfrm>
          <a:prstGeom prst="roundRect">
            <a:avLst>
              <a:gd name="adj" fmla="val 2746"/>
            </a:avLst>
          </a:prstGeom>
          <a:solidFill>
            <a:schemeClr val="lt1">
              <a:lumMod val="95000"/>
              <a:alpha val="5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94654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With HMO supplement (2’FL and LNnT), the mean time to reach full enteral feeding was 2 days shorter1*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[</a:t>
            </a: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翻译错误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: 'dict' object has no attribute 'replace']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Textfeld 27"/>
          <p:cNvSpPr/>
          <p:nvPr/>
        </p:nvSpPr>
        <p:spPr>
          <a:xfrm>
            <a:off x="6123600" y="630792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2’FL, 2-fucosyllactose; HMO, human milk oligosaccharide; LNnT, Lacto-N-neotetraose.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'dict' object has no attribute 'replace']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13"/>
          <p:cNvSpPr/>
          <p:nvPr/>
        </p:nvSpPr>
        <p:spPr>
          <a:xfrm>
            <a:off x="6094800" y="6539040"/>
            <a:ext cx="543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Hascoët JM et al., Abstract at WCPGHAN 2021. * Randomised, clinical trial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'dict' object has no attribute 'replace']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994680" y="5078880"/>
            <a:ext cx="3072960" cy="87984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t">
            <a:normAutofit fontScale="85000" lnSpcReduction="19999"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Faster progression to FEF may help reduce the risk of growth restriction and exacerbated gut immaturity1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[</a:t>
            </a: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翻译错误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: 'dict' object has no attribute 'replace']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grpSp>
        <p:nvGrpSpPr>
          <p:cNvPr id="76" name="Group 12"/>
          <p:cNvGrpSpPr/>
          <p:nvPr/>
        </p:nvGrpSpPr>
        <p:grpSpPr>
          <a:xfrm>
            <a:off x="5007960" y="2229120"/>
            <a:ext cx="6085080" cy="2846520"/>
            <a:chOff x="5007960" y="2229120"/>
            <a:chExt cx="6085080" cy="2846520"/>
          </a:xfrm>
        </p:grpSpPr>
        <p:sp>
          <p:nvSpPr>
            <p:cNvPr id="77" name="Abgerundetes Rechteck 5"/>
            <p:cNvSpPr/>
            <p:nvPr/>
          </p:nvSpPr>
          <p:spPr>
            <a:xfrm>
              <a:off x="5052240" y="2229120"/>
              <a:ext cx="3457440" cy="200880"/>
            </a:xfrm>
            <a:prstGeom prst="roundRect">
              <a:avLst>
                <a:gd name="adj" fmla="val 0"/>
              </a:avLst>
            </a:prstGeom>
            <a:noFill/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400" strike="noStrike" u="none">
                  <a:solidFill>
                    <a:schemeClr val="accent1"/>
                  </a:solidFill>
                  <a:effectLst/>
                  <a:uFillTx/>
                  <a:latin typeface="Arial"/>
                </a:rPr>
                <a:t>Full enteral feeding^</a:t>
              </a:r>
              <a:endPara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78" name="Straight Connector 24"/>
            <p:cNvCxnSpPr/>
            <p:nvPr/>
          </p:nvCxnSpPr>
          <p:spPr>
            <a:xfrm>
              <a:off x="5135400" y="4770360"/>
              <a:ext cx="4555080" cy="360"/>
            </a:xfrm>
            <a:prstGeom prst="straightConnector1">
              <a:avLst/>
            </a:prstGeom>
            <a:ln w="12600">
              <a:solidFill>
                <a:schemeClr val="dk1">
                  <a:lumMod val="60000"/>
                  <a:lumOff val="40000"/>
                </a:schemeClr>
              </a:solidFill>
              <a:miter/>
            </a:ln>
          </p:spPr>
        </p:cxnSp>
        <p:sp>
          <p:nvSpPr>
            <p:cNvPr id="79" name="Rounded Rectangle 4"/>
            <p:cNvSpPr/>
            <p:nvPr/>
          </p:nvSpPr>
          <p:spPr>
            <a:xfrm>
              <a:off x="5135400" y="2597040"/>
              <a:ext cx="4142520" cy="883440"/>
            </a:xfrm>
            <a:prstGeom prst="roundRect">
              <a:avLst>
                <a:gd name="adj" fmla="val 8334"/>
              </a:avLst>
            </a:prstGeom>
            <a:solidFill>
              <a:schemeClr val="accent2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US" sz="12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Placebo</a:t>
              </a:r>
              <a:endPara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1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Rounded Rectangle 36"/>
            <p:cNvSpPr/>
            <p:nvPr/>
          </p:nvSpPr>
          <p:spPr>
            <a:xfrm>
              <a:off x="5135400" y="3678480"/>
              <a:ext cx="3743640" cy="883440"/>
            </a:xfrm>
            <a:prstGeom prst="roundRect">
              <a:avLst>
                <a:gd name="adj" fmla="val 8334"/>
              </a:avLst>
            </a:prstGeom>
            <a:solidFill>
              <a:srgbClr val="33cc66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r>
                <a:rPr b="1" lang="en-GB" sz="1200" strike="noStrike" u="none">
                  <a:solidFill>
                    <a:schemeClr val="lt2"/>
                  </a:solidFill>
                  <a:effectLst/>
                  <a:uFillTx/>
                  <a:latin typeface="Arial"/>
                </a:rPr>
                <a:t>HMO (2’FL, LNnT) supplement 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(n=43)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5"/>
            <p:cNvSpPr/>
            <p:nvPr/>
          </p:nvSpPr>
          <p:spPr>
            <a:xfrm>
              <a:off x="8562600" y="284904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14,3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37"/>
            <p:cNvSpPr/>
            <p:nvPr/>
          </p:nvSpPr>
          <p:spPr>
            <a:xfrm>
              <a:off x="8092080" y="3935520"/>
              <a:ext cx="625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GB" sz="1800" strike="noStrike" u="none">
                  <a:solidFill>
                    <a:schemeClr val="lt1"/>
                  </a:solidFill>
                  <a:effectLst/>
                  <a:uFillTx/>
                  <a:latin typeface="Arial"/>
                </a:rPr>
                <a:t>12,2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7"/>
            <p:cNvSpPr/>
            <p:nvPr/>
          </p:nvSpPr>
          <p:spPr>
            <a:xfrm>
              <a:off x="500796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38"/>
            <p:cNvSpPr/>
            <p:nvPr/>
          </p:nvSpPr>
          <p:spPr>
            <a:xfrm>
              <a:off x="6526080" y="4832640"/>
              <a:ext cx="2473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39"/>
            <p:cNvSpPr/>
            <p:nvPr/>
          </p:nvSpPr>
          <p:spPr>
            <a:xfrm>
              <a:off x="804456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10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TextBox 40"/>
            <p:cNvSpPr/>
            <p:nvPr/>
          </p:nvSpPr>
          <p:spPr>
            <a:xfrm>
              <a:off x="9562680" y="4832640"/>
              <a:ext cx="31392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等线"/>
                </a:rPr>
                <a:t>15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Pfeil nach unten 19"/>
            <p:cNvSpPr/>
            <p:nvPr/>
          </p:nvSpPr>
          <p:spPr>
            <a:xfrm rot="5400000">
              <a:off x="9577440" y="3062160"/>
              <a:ext cx="880200" cy="215064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GB" sz="1800" strike="noStrike" u="none">
                <a:solidFill>
                  <a:schemeClr val="accent1"/>
                </a:solidFill>
                <a:effectLst/>
                <a:uFillTx/>
                <a:latin typeface="等线"/>
              </a:endParaRPr>
            </a:p>
          </p:txBody>
        </p:sp>
        <p:sp>
          <p:nvSpPr>
            <p:cNvPr id="88" name="TextBox 11"/>
            <p:cNvSpPr/>
            <p:nvPr/>
          </p:nvSpPr>
          <p:spPr>
            <a:xfrm>
              <a:off x="9244800" y="3943440"/>
              <a:ext cx="1646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en-US" sz="1800" strike="noStrike" u="none">
                  <a:solidFill>
                    <a:schemeClr val="lt2"/>
                  </a:solidFill>
                  <a:effectLst/>
                  <a:uFillTx/>
                  <a:latin typeface="等线"/>
                </a:rPr>
                <a:t>2 days shorter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TextBox 14"/>
          <p:cNvSpPr/>
          <p:nvPr/>
        </p:nvSpPr>
        <p:spPr>
          <a:xfrm>
            <a:off x="5007960" y="5274720"/>
            <a:ext cx="44420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77500" lnSpcReduction="19999"/>
          </a:bodyPr>
          <a:p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^Time to reach full enteral feeding is a reliable indicator of feeding tolerance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</a:t>
            </a:r>
            <a:r>
              <a:rPr b="0" lang="zh-C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翻译错误</a:t>
            </a: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'dict' object has no attribute 'replace']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Graphic 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92360" y="1552320"/>
            <a:ext cx="3752640" cy="375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2025-01-11T13:04:11Z</dcterms:created>
  <dc:creator>488460324@qq.com</dc:creator>
  <dc:description/>
  <dc:language>zh-CN</dc:language>
  <cp:lastModifiedBy>488460324@qq.com</cp:lastModifiedBy>
  <dcterms:modified xsi:type="dcterms:W3CDTF">2025-01-11T13:27:48Z</dcterms:modified>
  <cp:revision>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宽屏</vt:lpwstr>
  </property>
  <property fmtid="{D5CDD505-2E9C-101B-9397-08002B2CF9AE}" pid="4" name="Slides">
    <vt:r8>1</vt:r8>
  </property>
</Properties>
</file>