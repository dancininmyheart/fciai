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317EB-1F29-4168-8185-A66314E10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7360CA8-B3CE-4D85-ABF4-81322F11C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73A4A9-E91E-4130-89CF-99E90C2BB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D94474-A2E7-447E-93D7-307BC08F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88FFBC-D47D-4DCB-93C8-4A9731C9D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450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2EA4AB-95E8-4D2F-B820-63FA01AD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BB6A44-3814-461B-8A63-E6BEC6F63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511577-1A6F-4412-9E5A-53484E386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E0AC59-6434-4B07-80A0-92FE74F77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E7D14B-2314-4ECD-9C72-6E672EFEF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950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87D0E3-D634-43D9-B829-A6B69CF1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14A5B5-5ACB-4333-BAA6-BE280F0C0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A1892-6B81-4B09-9C15-EA7C1C08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004664-59AE-4563-849C-E5AA0890F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F4E08D-A0BF-419C-86DE-D4C493DA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7988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5D86A0-E8CD-4328-9FD5-EA0E4EF2F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B6B26-20B1-4B9F-BDB7-03CC00672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9D0388-570F-46E5-B884-B2FC8E1AB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C466C0-B6EF-40B2-9F5E-E4A460AB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4C117CD-CC95-406A-817C-787CBACC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F70468-D4C7-46C2-9064-10A835A21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5030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E2DF1C-7BCA-4FDD-B015-A1B96DD9A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258AC7-0C47-4C20-B845-50A3E01F6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67D6517-22EC-41D6-9FDD-36DCA3F53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167564-20CB-4FEF-A5DB-7ABF2AAB7B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8032F39-80F5-4F41-90A8-962BEB803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C010DF7-E8DD-4B2E-AD64-1138EE6DA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B398253-2744-4691-A4BB-BAC4E2009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C81B8F-A18B-493C-867B-C6518AE4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06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D355CA-D270-4597-B744-AA94C5C99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4E92A7C-1CEC-4717-9100-9B971D93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1AB383-BBD4-4604-8B23-689D9DDA3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025247-7E7D-45FC-B3A9-8DD94607C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47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F17AA2F-5608-4FF8-B1E7-0583D5EFC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31B591-9AA9-4948-8FA2-B72E92BB1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97F134-1B0B-4B02-822B-A422770E2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5059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8CB3FD-91D6-4BD3-A27E-6E8747BF5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732062-047C-44C7-9712-E89A11902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C741E03-0B7E-41AA-8BD0-9345493EA3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668C71-BB3A-48D0-A6DF-E00464C0C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578074-6277-4E94-96A0-E0FFF68F3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4AD1B9-FE61-4305-BA10-3525313D7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00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540C0-75E8-49BC-97C9-8499F646C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CB08F4-B7FD-417A-9429-4529C8AF7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0206109-6CCB-4BA0-983A-AC6892A37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25C9EF-904F-4C17-B622-3639289FA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52383D-3DDC-49AB-B648-A6E54E820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E02B44-0F83-4ABC-A0FE-9927284E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807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B28F31-65D9-47A9-9878-89EA7754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160C9F-A619-4B23-9E8C-9B62576A94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656900-B18A-47B2-BB7C-F1C611CD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2FD66B-BC58-406B-B5FE-6ACC8438E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F8C096-06F9-40E5-A0BE-2F4510528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868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955E3FE-CCC2-47A2-B546-F582B0A719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65F2F1-CED7-4126-81E1-FC378E0A1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96C597-41DA-4A9A-9D5E-22511B74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0AD413-F70F-4797-A8D1-4983905CD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02DEA8-1DDD-4340-928C-123603EC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05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5AF5B-154F-7E46-A763-65EC9F34A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DC3C90-2FEB-7D43-B0E9-E6C58E0D78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948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AE654-72E0-4245-886D-B6C45D42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6B7BE-F510-9144-B16A-17B25E99C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36375"/>
            <a:ext cx="10515600" cy="42405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FD4EE9-EDE0-6744-BE48-2417F735F40F}"/>
              </a:ext>
            </a:extLst>
          </p:cNvPr>
          <p:cNvCxnSpPr>
            <a:cxnSpLocks/>
          </p:cNvCxnSpPr>
          <p:nvPr userDrawn="1"/>
        </p:nvCxnSpPr>
        <p:spPr>
          <a:xfrm>
            <a:off x="963780" y="1543600"/>
            <a:ext cx="727023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0956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7C309-950C-374F-B2B7-9E99908BB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47678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C78C5-FB60-CA46-AC81-88F2D3F75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47B7928-8B5E-114C-99DA-84A18CE1C5A7}"/>
              </a:ext>
            </a:extLst>
          </p:cNvPr>
          <p:cNvCxnSpPr>
            <a:cxnSpLocks/>
          </p:cNvCxnSpPr>
          <p:nvPr userDrawn="1"/>
        </p:nvCxnSpPr>
        <p:spPr>
          <a:xfrm>
            <a:off x="963780" y="4403341"/>
            <a:ext cx="727023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CC3C73-6F17-0B44-9B50-35C3ECE39C2B}"/>
              </a:ext>
            </a:extLst>
          </p:cNvPr>
          <p:cNvSpPr txBox="1">
            <a:spLocks/>
          </p:cNvSpPr>
          <p:nvPr userDrawn="1"/>
        </p:nvSpPr>
        <p:spPr>
          <a:xfrm>
            <a:off x="5456420" y="6356350"/>
            <a:ext cx="589738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7396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EB4D-2A25-C345-A44F-ED5F48D2D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D0F51-B6CD-1E44-A031-A26C98A378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5E7280-5003-D149-BE44-45B09BC9D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049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C5FAA-676D-0A4B-8319-DE65B8867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12" y="365125"/>
            <a:ext cx="10515600" cy="1325563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FB5C0-FB9B-7F40-9F79-7DEE10491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79354"/>
            <a:ext cx="5157787" cy="823912"/>
          </a:xfrm>
          <a:solidFill>
            <a:schemeClr val="accent2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B668A-5D49-2847-9474-7F0619843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03266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5AFCE5-3E0C-7441-B0CD-70426711E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79354"/>
            <a:ext cx="5183188" cy="823912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0E68A-DDF0-2C4B-8309-C9F3CCB8A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03266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FC0B683-EC28-B945-9420-E135C6F50FF9}"/>
              </a:ext>
            </a:extLst>
          </p:cNvPr>
          <p:cNvCxnSpPr>
            <a:cxnSpLocks/>
          </p:cNvCxnSpPr>
          <p:nvPr userDrawn="1"/>
        </p:nvCxnSpPr>
        <p:spPr>
          <a:xfrm>
            <a:off x="963780" y="1543600"/>
            <a:ext cx="727023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696A6771-7BDA-CC44-A249-90F4161F4241}"/>
              </a:ext>
            </a:extLst>
          </p:cNvPr>
          <p:cNvSpPr txBox="1">
            <a:spLocks/>
          </p:cNvSpPr>
          <p:nvPr userDrawn="1"/>
        </p:nvSpPr>
        <p:spPr>
          <a:xfrm>
            <a:off x="5456420" y="6356350"/>
            <a:ext cx="589738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832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D018-ED9C-E64F-90D6-63993A579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78AC76E-9857-9148-BD67-EEFF740A6362}"/>
              </a:ext>
            </a:extLst>
          </p:cNvPr>
          <p:cNvCxnSpPr>
            <a:cxnSpLocks/>
          </p:cNvCxnSpPr>
          <p:nvPr userDrawn="1"/>
        </p:nvCxnSpPr>
        <p:spPr>
          <a:xfrm>
            <a:off x="963780" y="1543600"/>
            <a:ext cx="727023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21AA857-2FAC-1045-AD7B-B25211ABAF86}"/>
              </a:ext>
            </a:extLst>
          </p:cNvPr>
          <p:cNvSpPr txBox="1">
            <a:spLocks/>
          </p:cNvSpPr>
          <p:nvPr userDrawn="1"/>
        </p:nvSpPr>
        <p:spPr>
          <a:xfrm>
            <a:off x="5456420" y="6356350"/>
            <a:ext cx="589738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4260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40D3-1941-DD4E-8BE9-6A0AE22B3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17437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071A1-B533-9045-AD47-00CBE978C2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970A5-3B4A-D945-B10C-E4AA2ECD69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2AB9A-6D02-AD41-8228-7CF22B570D95}"/>
              </a:ext>
            </a:extLst>
          </p:cNvPr>
          <p:cNvCxnSpPr>
            <a:cxnSpLocks/>
          </p:cNvCxnSpPr>
          <p:nvPr userDrawn="1"/>
        </p:nvCxnSpPr>
        <p:spPr>
          <a:xfrm>
            <a:off x="945850" y="1848400"/>
            <a:ext cx="727023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0318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559C0-90CD-C04C-A012-E3010493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A8C1AC-7AD6-F543-A0B0-0AE6BBE71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7F17B-5801-7440-AE73-CCDADA60C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60950"/>
            <a:ext cx="3932237" cy="35080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9ED0BF2-5BF4-3F4A-85ED-C5FBA772C8D0}"/>
              </a:ext>
            </a:extLst>
          </p:cNvPr>
          <p:cNvCxnSpPr>
            <a:cxnSpLocks/>
          </p:cNvCxnSpPr>
          <p:nvPr userDrawn="1"/>
        </p:nvCxnSpPr>
        <p:spPr>
          <a:xfrm>
            <a:off x="945850" y="2206989"/>
            <a:ext cx="727023" cy="0"/>
          </a:xfrm>
          <a:prstGeom prst="line">
            <a:avLst/>
          </a:prstGeom>
          <a:ln w="50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676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44073C-49D7-2C47-A150-43ADABECB57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2491248" y="0"/>
            <a:ext cx="97007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5000F24-18D2-D644-B45F-ED03A981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656" y="2606155"/>
            <a:ext cx="48205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869ED76-01F1-1647-BED9-137B069E59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43" y="507326"/>
            <a:ext cx="2095658" cy="8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7331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person&#10;&#10;Description automatically generated">
            <a:extLst>
              <a:ext uri="{FF2B5EF4-FFF2-40B4-BE49-F238E27FC236}">
                <a16:creationId xmlns:a16="http://schemas.microsoft.com/office/drawing/2014/main" id="{B210C0B1-A39D-8244-A0B4-5BF80DDE8E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E01763-8253-6F41-BCE7-35436CDC2D31}"/>
              </a:ext>
            </a:extLst>
          </p:cNvPr>
          <p:cNvCxnSpPr>
            <a:cxnSpLocks/>
          </p:cNvCxnSpPr>
          <p:nvPr userDrawn="1"/>
        </p:nvCxnSpPr>
        <p:spPr>
          <a:xfrm>
            <a:off x="842568" y="3885199"/>
            <a:ext cx="723904" cy="0"/>
          </a:xfrm>
          <a:prstGeom prst="line">
            <a:avLst/>
          </a:prstGeom>
          <a:ln w="53975">
            <a:solidFill>
              <a:srgbClr val="2FB8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313B67A-BFD9-D441-AA03-1AD032858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313847"/>
            <a:ext cx="48205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A611813-4A5A-9447-AEB9-22FA99F62F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43" y="507326"/>
            <a:ext cx="2095658" cy="82556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20C3F5B-E7C2-FE43-AA36-3D280F4B7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288" y="4247786"/>
            <a:ext cx="48205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59579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FBA69643-AD33-E54E-AA62-D2DA6841BE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901277" y="0"/>
            <a:ext cx="10290723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0B93C7-84FB-B348-806E-D636A5B1E1C2}"/>
              </a:ext>
            </a:extLst>
          </p:cNvPr>
          <p:cNvCxnSpPr>
            <a:cxnSpLocks/>
          </p:cNvCxnSpPr>
          <p:nvPr userDrawn="1"/>
        </p:nvCxnSpPr>
        <p:spPr>
          <a:xfrm>
            <a:off x="842568" y="3885199"/>
            <a:ext cx="723904" cy="0"/>
          </a:xfrm>
          <a:prstGeom prst="line">
            <a:avLst/>
          </a:prstGeom>
          <a:ln w="53975">
            <a:solidFill>
              <a:srgbClr val="2FB8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B1122AA-BC59-1F4C-910F-58A739B0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313847"/>
            <a:ext cx="48205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F231C77-384D-634D-876D-9D12CBCEA1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43" y="507326"/>
            <a:ext cx="2095658" cy="82556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E7B4EC8-01F7-3243-91FA-63632A95E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288" y="4247786"/>
            <a:ext cx="48205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0001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5F17A65-D2CE-9A4B-A185-0F49992137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1901277" y="0"/>
            <a:ext cx="10290723" cy="68580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3DDED9-9F25-4E48-8E25-D2A3338AD844}"/>
              </a:ext>
            </a:extLst>
          </p:cNvPr>
          <p:cNvCxnSpPr>
            <a:cxnSpLocks/>
          </p:cNvCxnSpPr>
          <p:nvPr userDrawn="1"/>
        </p:nvCxnSpPr>
        <p:spPr>
          <a:xfrm>
            <a:off x="842568" y="3885199"/>
            <a:ext cx="723904" cy="0"/>
          </a:xfrm>
          <a:prstGeom prst="line">
            <a:avLst/>
          </a:prstGeom>
          <a:ln w="53975">
            <a:solidFill>
              <a:srgbClr val="2FB8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BE075B-861E-2F46-BC0B-3743BD82E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313847"/>
            <a:ext cx="48205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09DB2AA-B680-1448-894E-90767CB300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643" y="507326"/>
            <a:ext cx="2095658" cy="825564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D37BE30-2477-5240-9525-BEADB3EE31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288" y="4247786"/>
            <a:ext cx="48205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61163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B61B4E-0254-CE49-830F-4230FBD0E1DE}"/>
              </a:ext>
            </a:extLst>
          </p:cNvPr>
          <p:cNvCxnSpPr>
            <a:cxnSpLocks/>
          </p:cNvCxnSpPr>
          <p:nvPr userDrawn="1"/>
        </p:nvCxnSpPr>
        <p:spPr>
          <a:xfrm>
            <a:off x="842568" y="3885199"/>
            <a:ext cx="723904" cy="0"/>
          </a:xfrm>
          <a:prstGeom prst="line">
            <a:avLst/>
          </a:prstGeom>
          <a:ln w="53975">
            <a:solidFill>
              <a:srgbClr val="2FB85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BD7737CD-8589-5F43-BA49-E815AC7EA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288" y="2313847"/>
            <a:ext cx="48205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3A17FA8-4AE2-1449-B496-66D1842278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643" y="507326"/>
            <a:ext cx="2095658" cy="825564"/>
          </a:xfrm>
          <a:prstGeom prst="rect">
            <a:avLst/>
          </a:prstGeom>
        </p:spPr>
      </p:pic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37737D1-5726-3042-B77F-6FB95C8AE2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288" y="4247786"/>
            <a:ext cx="482058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8CF516DD-96D4-D54E-93CD-B2B389369B3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444584" y="0"/>
            <a:ext cx="7747416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6EE4C2-F3FC-7041-B54B-FF36717FBE34}"/>
              </a:ext>
            </a:extLst>
          </p:cNvPr>
          <p:cNvSpPr/>
          <p:nvPr userDrawn="1"/>
        </p:nvSpPr>
        <p:spPr>
          <a:xfrm>
            <a:off x="518643" y="6228413"/>
            <a:ext cx="1782347" cy="56962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006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C8009B-55F4-8E48-9C7F-F617E440BE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5390C-14F1-DB40-B605-F1B78FA4B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C5222-8B62-DA40-AB30-ECE74F1C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04348" y="6356350"/>
            <a:ext cx="6549452" cy="365125"/>
          </a:xfrm>
          <a:prstGeom prst="rect">
            <a:avLst/>
          </a:prstGeom>
        </p:spPr>
        <p:txBody>
          <a:bodyPr/>
          <a:lstStyle/>
          <a:p>
            <a:fld id="{CA3960AE-41A2-D14B-B365-19EE090EFE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784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D93FA98-49EE-4D20-88EA-BB8CA147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117537-2A37-47D7-B0EE-F64B4CED3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E59BCF-7FA3-441A-8819-ED120836B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E38D75-EED1-4621-888D-96EDD583C298}" type="datetimeFigureOut">
              <a:rPr lang="zh-CN" altLang="en-US" smtClean="0"/>
              <a:t>2025/1/8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37B2F2-C474-458E-984D-258EE5FB4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317B5C-6494-4EAF-9F42-014DDD7F4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552A2A-4A2D-493E-ADEA-B4EBA8A46C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147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BB6C7-FF7E-1740-B629-5A5FE1A72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CA231-BE1D-FB4B-93DD-1A54A30C8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17059"/>
            <a:ext cx="10515600" cy="41599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662A923-9E71-8745-B06A-E9EC87A43367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7503" y="6256054"/>
            <a:ext cx="1430629" cy="563582"/>
          </a:xfrm>
          <a:prstGeom prst="rect">
            <a:avLst/>
          </a:prstGeom>
        </p:spPr>
      </p:pic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81771F0-8A14-CD42-A412-36E1D0BB7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464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456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feil nach unten 19">
            <a:extLst>
              <a:ext uri="{FF2B5EF4-FFF2-40B4-BE49-F238E27FC236}">
                <a16:creationId xmlns:a16="http://schemas.microsoft.com/office/drawing/2014/main" id="{C85B1DBB-2419-0A4A-A92E-A19C1663702F}"/>
              </a:ext>
            </a:extLst>
          </p:cNvPr>
          <p:cNvSpPr/>
          <p:nvPr/>
        </p:nvSpPr>
        <p:spPr>
          <a:xfrm rot="16200000">
            <a:off x="3675357" y="3511581"/>
            <a:ext cx="471146" cy="336532"/>
          </a:xfrm>
          <a:prstGeom prst="down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8" name="Abgerundetes Rechteck 9">
            <a:extLst>
              <a:ext uri="{FF2B5EF4-FFF2-40B4-BE49-F238E27FC236}">
                <a16:creationId xmlns:a16="http://schemas.microsoft.com/office/drawing/2014/main" id="{C151EA72-2566-8B4F-8E18-6894F406F0AC}"/>
              </a:ext>
            </a:extLst>
          </p:cNvPr>
          <p:cNvSpPr/>
          <p:nvPr/>
        </p:nvSpPr>
        <p:spPr>
          <a:xfrm>
            <a:off x="859972" y="2870637"/>
            <a:ext cx="2893415" cy="3002624"/>
          </a:xfrm>
          <a:prstGeom prst="roundRect">
            <a:avLst>
              <a:gd name="adj" fmla="val 3823"/>
            </a:avLst>
          </a:prstGeom>
          <a:solidFill>
            <a:schemeClr val="bg2"/>
          </a:solidFill>
          <a:ln w="19050">
            <a:solidFill>
              <a:srgbClr val="B1255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90000" rIns="90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Internal risk factors</a:t>
            </a:r>
            <a:r>
              <a:rPr kumimoji="0" lang="en-GB" sz="1400" b="1" i="0" u="none" strike="noStrike" kern="1200" cap="none" spc="0" normalizeH="0" baseline="3000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7-10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Gestational age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Birth weight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Genetics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 utero colonisation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6EF242-F9BC-BF46-A040-81C519363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28510" cy="1161575"/>
          </a:xfrm>
        </p:spPr>
        <p:txBody>
          <a:bodyPr>
            <a:noAutofit/>
          </a:bodyPr>
          <a:lstStyle/>
          <a:p>
            <a:r>
              <a:rPr lang="en-GB" sz="2800" dirty="0"/>
              <a:t>A disturbed microbial colonisation of the GI tract contributes to feeding intolerance of preterm infants</a:t>
            </a:r>
            <a:r>
              <a:rPr lang="en-GB" sz="2800" b="0" baseline="30000" dirty="0"/>
              <a:t>1-8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E1B256-F637-F740-9E3C-5ED78790B315}"/>
              </a:ext>
            </a:extLst>
          </p:cNvPr>
          <p:cNvSpPr/>
          <p:nvPr/>
        </p:nvSpPr>
        <p:spPr>
          <a:xfrm>
            <a:off x="3987800" y="6370649"/>
            <a:ext cx="7772534" cy="33855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1. Di Mauro A et al., 2013; 2. Ford SL et al., 2019; 3.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Fanaro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S, 2013; 4.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Senterre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T, 2014; 5.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Fouhy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F et al., 2019; 6. Yuan Z et al., 2019;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7.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Collado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C et al., 2015; 8.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Hendrickx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JGE et al., 2019; 9. </a:t>
            </a:r>
            <a:r>
              <a:rPr kumimoji="0" lang="en-GB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Lenfestey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MW and Neu J, 2018; 10. Unger S et al., 2015; 11. Greenwood C et al., 2014. </a:t>
            </a:r>
          </a:p>
        </p:txBody>
      </p:sp>
      <p:sp>
        <p:nvSpPr>
          <p:cNvPr id="24" name="Abgerundetes Rechteck 9">
            <a:extLst>
              <a:ext uri="{FF2B5EF4-FFF2-40B4-BE49-F238E27FC236}">
                <a16:creationId xmlns:a16="http://schemas.microsoft.com/office/drawing/2014/main" id="{E91232D4-9644-A24C-8D8D-56F07C04828A}"/>
              </a:ext>
            </a:extLst>
          </p:cNvPr>
          <p:cNvSpPr/>
          <p:nvPr/>
        </p:nvSpPr>
        <p:spPr>
          <a:xfrm>
            <a:off x="4109538" y="2870637"/>
            <a:ext cx="3989253" cy="1605177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ctr"/>
          <a:lstStyle/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Delayed colonization of commensal bacteria, such as </a:t>
            </a:r>
            <a:r>
              <a:rPr kumimoji="0" lang="en-GB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Bifidobacteria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en-GB" sz="1400" b="0" i="1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Lactobacillus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Limited microbial diversity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Microbial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disturbances persist up to 4 years of age</a:t>
            </a:r>
          </a:p>
        </p:txBody>
      </p:sp>
      <p:sp>
        <p:nvSpPr>
          <p:cNvPr id="33" name="Abgerundetes Rechteck 13">
            <a:extLst>
              <a:ext uri="{FF2B5EF4-FFF2-40B4-BE49-F238E27FC236}">
                <a16:creationId xmlns:a16="http://schemas.microsoft.com/office/drawing/2014/main" id="{3D42B893-AE92-BD41-8D5E-67F4A56223EE}"/>
              </a:ext>
            </a:extLst>
          </p:cNvPr>
          <p:cNvSpPr/>
          <p:nvPr/>
        </p:nvSpPr>
        <p:spPr>
          <a:xfrm>
            <a:off x="4109538" y="4731810"/>
            <a:ext cx="3989252" cy="1141451"/>
          </a:xfrm>
          <a:prstGeom prst="roundRect">
            <a:avLst>
              <a:gd name="adj" fmla="val 12135"/>
            </a:avLst>
          </a:prstGeom>
          <a:solidFill>
            <a:schemeClr val="accent1"/>
          </a:solidFill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Feeding intolerance, NEC, impact on immune system development and gut barrier integrity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03BA78-E64D-BD4D-B4D9-68A89660808B}"/>
              </a:ext>
            </a:extLst>
          </p:cNvPr>
          <p:cNvSpPr txBox="1"/>
          <p:nvPr/>
        </p:nvSpPr>
        <p:spPr>
          <a:xfrm>
            <a:off x="7653119" y="6129257"/>
            <a:ext cx="4107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666666">
                    <a:lumMod val="60000"/>
                    <a:lumOff val="4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GI, gastrointestinal; NEC, necrotising enterocolitis; NICU, neonatal intensive care unit.</a:t>
            </a:r>
          </a:p>
        </p:txBody>
      </p:sp>
      <p:sp>
        <p:nvSpPr>
          <p:cNvPr id="31" name="Pfeil nach unten 19">
            <a:extLst>
              <a:ext uri="{FF2B5EF4-FFF2-40B4-BE49-F238E27FC236}">
                <a16:creationId xmlns:a16="http://schemas.microsoft.com/office/drawing/2014/main" id="{0FCB511A-7C20-3746-9951-F895B487D39E}"/>
              </a:ext>
            </a:extLst>
          </p:cNvPr>
          <p:cNvSpPr/>
          <p:nvPr/>
        </p:nvSpPr>
        <p:spPr>
          <a:xfrm>
            <a:off x="5868591" y="4465803"/>
            <a:ext cx="471146" cy="336532"/>
          </a:xfrm>
          <a:prstGeom prst="down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Pfeil nach unten 19">
            <a:extLst>
              <a:ext uri="{FF2B5EF4-FFF2-40B4-BE49-F238E27FC236}">
                <a16:creationId xmlns:a16="http://schemas.microsoft.com/office/drawing/2014/main" id="{8A695920-3477-5C49-A38A-C42B6C609713}"/>
              </a:ext>
            </a:extLst>
          </p:cNvPr>
          <p:cNvSpPr/>
          <p:nvPr/>
        </p:nvSpPr>
        <p:spPr>
          <a:xfrm>
            <a:off x="5868591" y="2594619"/>
            <a:ext cx="471146" cy="336532"/>
          </a:xfrm>
          <a:prstGeom prst="down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2" name="Abgerundetes Rechteck 5">
            <a:extLst>
              <a:ext uri="{FF2B5EF4-FFF2-40B4-BE49-F238E27FC236}">
                <a16:creationId xmlns:a16="http://schemas.microsoft.com/office/drawing/2014/main" id="{10E65E39-3F95-864E-AACF-B309EAF27685}"/>
              </a:ext>
            </a:extLst>
          </p:cNvPr>
          <p:cNvSpPr/>
          <p:nvPr/>
        </p:nvSpPr>
        <p:spPr>
          <a:xfrm>
            <a:off x="4079927" y="1932716"/>
            <a:ext cx="4048474" cy="68192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Disturbed gut microbial colonisation</a:t>
            </a:r>
          </a:p>
        </p:txBody>
      </p:sp>
      <p:sp>
        <p:nvSpPr>
          <p:cNvPr id="56" name="Pfeil nach unten 19">
            <a:extLst>
              <a:ext uri="{FF2B5EF4-FFF2-40B4-BE49-F238E27FC236}">
                <a16:creationId xmlns:a16="http://schemas.microsoft.com/office/drawing/2014/main" id="{52AD5A02-11B4-644A-93D4-6D91DD445D03}"/>
              </a:ext>
            </a:extLst>
          </p:cNvPr>
          <p:cNvSpPr/>
          <p:nvPr/>
        </p:nvSpPr>
        <p:spPr>
          <a:xfrm rot="5400000">
            <a:off x="8071513" y="3511580"/>
            <a:ext cx="471146" cy="336532"/>
          </a:xfrm>
          <a:prstGeom prst="downArrow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Abgerundetes Rechteck 9">
            <a:extLst>
              <a:ext uri="{FF2B5EF4-FFF2-40B4-BE49-F238E27FC236}">
                <a16:creationId xmlns:a16="http://schemas.microsoft.com/office/drawing/2014/main" id="{FFACA7FC-73C9-524B-AF07-784DF1A24B49}"/>
              </a:ext>
            </a:extLst>
          </p:cNvPr>
          <p:cNvSpPr/>
          <p:nvPr/>
        </p:nvSpPr>
        <p:spPr>
          <a:xfrm>
            <a:off x="8463106" y="2870638"/>
            <a:ext cx="2893415" cy="3002624"/>
          </a:xfrm>
          <a:prstGeom prst="roundRect">
            <a:avLst>
              <a:gd name="adj" fmla="val 3823"/>
            </a:avLst>
          </a:prstGeom>
          <a:solidFill>
            <a:schemeClr val="bg2"/>
          </a:solidFill>
          <a:ln w="19050">
            <a:solidFill>
              <a:srgbClr val="B1255F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Ins="900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External risk factors</a:t>
            </a:r>
            <a:r>
              <a:rPr kumimoji="0" lang="en-GB" sz="1400" b="1" i="0" u="none" strike="noStrike" kern="1200" cap="none" spc="0" normalizeH="0" baseline="3000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7-11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Antibiotics</a:t>
            </a: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 of delivery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NICU environment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Skin to skin contact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Breast milk exposure</a:t>
            </a:r>
          </a:p>
          <a:p>
            <a:pPr marL="144000" marR="0" lvl="0" indent="-144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5D7DE1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Medical complexity, inflammation, oxidative stress</a:t>
            </a:r>
          </a:p>
        </p:txBody>
      </p:sp>
    </p:spTree>
    <p:extLst>
      <p:ext uri="{BB962C8B-B14F-4D97-AF65-F5344CB8AC3E}">
        <p14:creationId xmlns:p14="http://schemas.microsoft.com/office/powerpoint/2010/main" val="3845021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Nestle - Premature">
      <a:dk1>
        <a:srgbClr val="666666"/>
      </a:dk1>
      <a:lt1>
        <a:srgbClr val="FFFFFF"/>
      </a:lt1>
      <a:dk2>
        <a:srgbClr val="666666"/>
      </a:dk2>
      <a:lt2>
        <a:srgbClr val="FFFFFF"/>
      </a:lt2>
      <a:accent1>
        <a:srgbClr val="554596"/>
      </a:accent1>
      <a:accent2>
        <a:srgbClr val="5D7DE1"/>
      </a:accent2>
      <a:accent3>
        <a:srgbClr val="33CC66"/>
      </a:accent3>
      <a:accent4>
        <a:srgbClr val="44E3E6"/>
      </a:accent4>
      <a:accent5>
        <a:srgbClr val="4DE3FB"/>
      </a:accent5>
      <a:accent6>
        <a:srgbClr val="0041E3"/>
      </a:accent6>
      <a:hlink>
        <a:srgbClr val="5D7DE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204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Wingdings</vt:lpstr>
      <vt:lpstr>Office 主题​​</vt:lpstr>
      <vt:lpstr>Office Theme</vt:lpstr>
      <vt:lpstr>A disturbed microbial colonisation of the GI tract contributes to feeding intolerance of preterm infants1-8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disturbed microbial colonisation of the GI tract contributes to feeding intolerance of preterm infants1-8</dc:title>
  <dc:creator>488460324@qq.com</dc:creator>
  <cp:lastModifiedBy>488460324@qq.com</cp:lastModifiedBy>
  <cp:revision>6</cp:revision>
  <dcterms:created xsi:type="dcterms:W3CDTF">2025-01-03T13:05:54Z</dcterms:created>
  <dcterms:modified xsi:type="dcterms:W3CDTF">2025-01-08T05:46:03Z</dcterms:modified>
</cp:coreProperties>
</file>