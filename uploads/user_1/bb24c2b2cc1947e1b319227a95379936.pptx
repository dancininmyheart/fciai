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5" r:id="rId21"/>
    <p:sldMasterId id="2147483686" r:id="rId22"/>
    <p:sldMasterId id="2147483687" r:id="rId23"/>
    <p:sldMasterId id="2147483688" r:id="rId24"/>
    <p:sldMasterId id="2147483689" r:id="rId25"/>
    <p:sldMasterId id="2147483690" r:id="rId26"/>
  </p:sldMasterIdLst>
  <p:sldIdLst>
    <p:sldId id="256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" Target="slides/slide1.xml"/><Relationship Id="rId28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E9F8DF-CB92-4202-9941-02A2BAE86C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CAFF5E-C64B-4603-9D09-7F4295FE4E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4439DF5-588A-4E9F-BC11-880B90F755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EBB0A84-A26F-4D2A-AB18-4DF2706629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A63753F-523A-48D4-A255-45673A131B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E183AFC-80F7-4B7D-BE78-11635BAF9D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89DA546-A696-4CCC-9DE2-7EDCDC7770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B29D517-D4A3-4111-B658-47AAE2452E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6F1DFD1-FA29-4F25-A8F7-3FEAB53035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61B8720-ED0A-4076-89FD-C164BB0FF5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3C32546-D48B-4997-93D5-65E614DF95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2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3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BEEB85E4-CD6C-4EB7-BDB5-6823C82D070C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Layout" Target="../slideLayouts/slideLayout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07BEFB-9ECD-4681-969B-673A748D246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19A174-1D98-456A-B3EB-631CA1F08E5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BD3E79-1201-4E3D-BDAC-405081378D9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C38A19-68CF-4FFB-8654-B021F3C167D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C865DC-2F24-445C-A1A2-81272D07A74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330F45-8221-4B0C-9EC9-2C7D9EF012B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4026DB-6F0D-4351-AD50-802B54C65D9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4283BD-1DFE-4257-99DC-BB2836A2A9C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CD1D84-7F63-4E09-AB74-9D6B2D74C5B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BAE8DA-1029-4338-A191-CA1A0AB2B7F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7DB545-0DAD-4EDB-8F47-3286B2FE2C9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GB" sz="36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2" descr="A picture containing person&#10;&#10;Description automatically generated"/>
          <p:cNvPicPr/>
          <p:nvPr/>
        </p:nvPicPr>
        <p:blipFill>
          <a:blip r:embed="rId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5" name="Straight Connector 3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7" name="Graphic 5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7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15" descr=""/>
          <p:cNvPicPr/>
          <p:nvPr/>
        </p:nvPicPr>
        <p:blipFill>
          <a:blip r:embed="rId4"/>
          <a:stretch/>
        </p:blipFill>
        <p:spPr>
          <a:xfrm flipH="1">
            <a:off x="1901880" y="0"/>
            <a:ext cx="1029024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3" name="Straight Connector 4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95" name="Graphic 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7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13" descr=""/>
          <p:cNvPicPr/>
          <p:nvPr/>
        </p:nvPicPr>
        <p:blipFill>
          <a:blip r:embed="rId4"/>
          <a:stretch/>
        </p:blipFill>
        <p:spPr>
          <a:xfrm flipH="1">
            <a:off x="1901880" y="0"/>
            <a:ext cx="1029024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1" name="Straight Connector 4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3" name="Graphic 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7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8" name="Straight Connector 7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0" name="Graphic 1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444560" y="0"/>
            <a:ext cx="7747200" cy="685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6"/>
          <p:cNvSpPr/>
          <p:nvPr/>
        </p:nvSpPr>
        <p:spPr>
          <a:xfrm>
            <a:off x="518760" y="6228360"/>
            <a:ext cx="1782000" cy="569160"/>
          </a:xfrm>
          <a:prstGeom prst="rect">
            <a:avLst/>
          </a:prstGeom>
          <a:solidFill>
            <a:schemeClr val="l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6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34"/>
          </p:nvPr>
        </p:nvSpPr>
        <p:spPr>
          <a:xfrm>
            <a:off x="4804200" y="6356520"/>
            <a:ext cx="654912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C962693-45C8-401B-A9BF-C9337DC5383D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&lt;编号&gt;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25" name="Straight Connector 8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47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48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Straight Connector 8"/>
          <p:cNvCxnSpPr/>
          <p:nvPr/>
        </p:nvCxnSpPr>
        <p:spPr>
          <a:xfrm>
            <a:off x="963720" y="440316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32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664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839880" y="1779480"/>
            <a:ext cx="5157360" cy="8236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algn="ctr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839880" y="260316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6172200" y="1779480"/>
            <a:ext cx="5182920" cy="8236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6172200" y="260316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3" name="Straight Connector 15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44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7" name="Straight Connector 6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48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1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53" name="Straight Connector 8"/>
          <p:cNvCxnSpPr/>
          <p:nvPr/>
        </p:nvCxnSpPr>
        <p:spPr>
          <a:xfrm>
            <a:off x="945720" y="184824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839880" y="2360880"/>
            <a:ext cx="3931920" cy="350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58" name="Straight Connector 7"/>
          <p:cNvCxnSpPr/>
          <p:nvPr/>
        </p:nvCxnSpPr>
        <p:spPr>
          <a:xfrm>
            <a:off x="945720" y="220680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Picture 2" descr=""/>
          <p:cNvPicPr/>
          <p:nvPr/>
        </p:nvPicPr>
        <p:blipFill>
          <a:blip r:embed="rId4"/>
          <a:stretch/>
        </p:blipFill>
        <p:spPr>
          <a:xfrm flipH="1">
            <a:off x="2491560" y="0"/>
            <a:ext cx="97005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05760" y="260604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62" name="Graphic 9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feil nach unten 19"/>
          <p:cNvSpPr/>
          <p:nvPr/>
        </p:nvSpPr>
        <p:spPr>
          <a:xfrm rot="16200000">
            <a:off x="3675240" y="351180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Abgerundetes Rechteck 9"/>
          <p:cNvSpPr/>
          <p:nvPr/>
        </p:nvSpPr>
        <p:spPr>
          <a:xfrm>
            <a:off x="860040" y="2870640"/>
            <a:ext cx="2892960" cy="3002400"/>
          </a:xfrm>
          <a:prstGeom prst="roundRect">
            <a:avLst>
              <a:gd name="adj" fmla="val 3823"/>
            </a:avLst>
          </a:prstGeom>
          <a:solidFill>
            <a:schemeClr val="lt2"/>
          </a:solidFill>
          <a:ln w="19080">
            <a:solidFill>
              <a:srgbClr val="b125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lnSpcReduction="9999"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Internal risk factors7-10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内部风险因素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7-10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Gestational age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胎龄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Birth weight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出生体重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Genetics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遗传学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 utero colonisation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宫内定植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6282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92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A disturbed microbial colonisation of the GI tract contributes to feeding intolerance of preterm infants1-8</a:t>
            </a:r>
            <a:br>
              <a:rPr sz="3200"/>
            </a:br>
            <a:r>
              <a:rPr b="1" lang="zh-CN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胃肠道微生物定植紊乱导致早产儿喂养不耐受</a:t>
            </a: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1-8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3"/>
          <p:cNvSpPr/>
          <p:nvPr/>
        </p:nvSpPr>
        <p:spPr>
          <a:xfrm>
            <a:off x="3987720" y="6370560"/>
            <a:ext cx="77720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25000" lnSpcReduction="19999"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Di Mauro A et al., 2013; 2. Ford SL et al., 2019; 3. Fanaro S, 2013; 4. Senterre T, 2014; 5. Fouhy F et al., 2019; 6. Yuan Z et al., 2019;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Di Mauro A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2013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2. Ford SL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2019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3. Fanaro S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2013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4. Senterre T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2014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5. Fouhy F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2019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6. Yuan Z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2019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7. Collado C et al., 2015; 8. Hendrickx JGE et al., 2019; 9. Lenfestey MW and Neu J, 2018; 10. Unger S et al., 2015; 11. Greenwood C et al., 2014.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7. Collado C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2015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8. Hendrickx JGE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2019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9. Lenfestey MW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和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Neu J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2018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10. Unger S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2015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11. Greenwood C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2014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Abgerundetes Rechteck 9"/>
          <p:cNvSpPr/>
          <p:nvPr/>
        </p:nvSpPr>
        <p:spPr>
          <a:xfrm>
            <a:off x="4109400" y="2870640"/>
            <a:ext cx="3988800" cy="1604880"/>
          </a:xfrm>
          <a:prstGeom prst="roundRect">
            <a:avLst>
              <a:gd name="adj" fmla="val 7857"/>
            </a:avLst>
          </a:prstGeom>
          <a:solidFill>
            <a:schemeClr val="lt1"/>
          </a:solidFill>
          <a:ln w="19080">
            <a:solidFill>
              <a:schemeClr val="accent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77500" lnSpcReduction="19999"/>
          </a:bodyPr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Delayed colonization of commensal bacteria, such as Bifidobacteria, Lactobacillus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共生菌如双歧杆菌和乳酸杆菌的延迟定植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Limited microbial diversity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微生物多样性有限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Microbial disturbances persist up to 4 years of age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微生物紊乱可持续至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4</a:t>
            </a: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岁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Abgerundetes Rechteck 13"/>
          <p:cNvSpPr/>
          <p:nvPr/>
        </p:nvSpPr>
        <p:spPr>
          <a:xfrm>
            <a:off x="4109400" y="4731840"/>
            <a:ext cx="3988800" cy="1141200"/>
          </a:xfrm>
          <a:prstGeom prst="roundRect">
            <a:avLst>
              <a:gd name="adj" fmla="val 12135"/>
            </a:avLst>
          </a:prstGeom>
          <a:solidFill>
            <a:schemeClr val="accent1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Feeding intolerance, NEC, impact on immune system development and gut barrier integrity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喂养不耐受、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NEC</a:t>
            </a: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、对免疫系统发育和肠屏障完整性的影响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8"/>
          <p:cNvSpPr/>
          <p:nvPr/>
        </p:nvSpPr>
        <p:spPr>
          <a:xfrm>
            <a:off x="7653240" y="6129360"/>
            <a:ext cx="41068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32500" lnSpcReduction="19999"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GI, gastrointestinal; NEC, necrotising enterocolitis; NICU, neonatal intensive care unit.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GI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，胃肠道；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NEC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，坏死性小肠结肠炎；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NICU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，新生儿重症监护室。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feil nach unten 19"/>
          <p:cNvSpPr/>
          <p:nvPr/>
        </p:nvSpPr>
        <p:spPr>
          <a:xfrm>
            <a:off x="5868720" y="446580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500" lnSpcReduction="19999"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Pfeil nach unten 19"/>
          <p:cNvSpPr/>
          <p:nvPr/>
        </p:nvSpPr>
        <p:spPr>
          <a:xfrm>
            <a:off x="5868720" y="259452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500" lnSpcReduction="19999"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Abgerundetes Rechteck 5"/>
          <p:cNvSpPr/>
          <p:nvPr/>
        </p:nvSpPr>
        <p:spPr>
          <a:xfrm>
            <a:off x="4079880" y="1932840"/>
            <a:ext cx="4048200" cy="68148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Disturbed gut microbial colonisation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肠道微生物定植紊乱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Pfeil nach unten 19"/>
          <p:cNvSpPr/>
          <p:nvPr/>
        </p:nvSpPr>
        <p:spPr>
          <a:xfrm rot="5400000">
            <a:off x="8071920" y="351144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Abgerundetes Rechteck 9"/>
          <p:cNvSpPr/>
          <p:nvPr/>
        </p:nvSpPr>
        <p:spPr>
          <a:xfrm>
            <a:off x="8463240" y="2870640"/>
            <a:ext cx="2892960" cy="3002400"/>
          </a:xfrm>
          <a:prstGeom prst="roundRect">
            <a:avLst>
              <a:gd name="adj" fmla="val 3823"/>
            </a:avLst>
          </a:prstGeom>
          <a:solidFill>
            <a:schemeClr val="lt2"/>
          </a:solidFill>
          <a:ln w="19080">
            <a:solidFill>
              <a:srgbClr val="b1255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77500" lnSpcReduction="19999"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External risk factors7-11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外部风险因素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7-11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Antibiotics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抗生素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Mode of delivery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分娩方式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NICU environment</a:t>
            </a:r>
            <a:br>
              <a:rPr sz="1800"/>
            </a:b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NICU</a:t>
            </a: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环境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Skin to skin contact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皮肤接触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Breast milk exposure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母乳暴露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Medical complexity, inflammation, oxidative stress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医疗复杂性、炎症、氧化应激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</TotalTime>
  <Application>LibreOffice/25.2.5.2$Windows_X86_64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2025-01-03T13:05:54Z</dcterms:created>
  <dc:creator>488460324@qq.com</dc:creator>
  <dc:description/>
  <dc:language>zh-CN</dc:language>
  <cp:lastModifiedBy>488460324@qq.com</cp:lastModifiedBy>
  <dcterms:modified xsi:type="dcterms:W3CDTF">2025-01-08T05:46:03Z</dcterms:modified>
  <cp:revision>6</cp:revision>
  <dc:subject/>
  <dc:title>A disturbed microbial colonisation of the GI tract contributes to feeding intolerance of preterm infants1-8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宽屏</vt:lpwstr>
  </property>
  <property fmtid="{D5CDD505-2E9C-101B-9397-08002B2CF9AE}" pid="3" name="Slides">
    <vt:r8>1</vt:r8>
  </property>
</Properties>
</file>