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2.svg" ContentType="image/svg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heme/theme1.xml" ContentType="application/vnd.openxmlformats-officedocument.theme+xml"/>
  <Override PartName="/ppt/theme/theme1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presProps" Target="presProp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sldImg"/>
          </p:nvPr>
        </p:nvSpPr>
        <p:spPr>
          <a:xfrm>
            <a:off x="0" y="81252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单击以移动幻灯片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58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zh-CN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点击编辑备注格式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&lt;页眉&gt;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PlaceHolder 4"/>
          <p:cNvSpPr>
            <a:spLocks noGrp="1"/>
          </p:cNvSpPr>
          <p:nvPr>
            <p:ph type="dt" idx="34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&lt;日期/时间&gt;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" name="PlaceHolder 5"/>
          <p:cNvSpPr>
            <a:spLocks noGrp="1"/>
          </p:cNvSpPr>
          <p:nvPr>
            <p:ph type="ftr" idx="35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&lt;页脚&gt;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" name="PlaceHolder 6"/>
          <p:cNvSpPr>
            <a:spLocks noGrp="1"/>
          </p:cNvSpPr>
          <p:nvPr>
            <p:ph type="sldNum" idx="36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1B30D91A-EE58-4D4F-A0B8-3AC5DEB633A8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&lt;编号&gt;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8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PlaceHolder 3"/>
          <p:cNvSpPr>
            <a:spLocks noGrp="1"/>
          </p:cNvSpPr>
          <p:nvPr>
            <p:ph type="sldNum" idx="3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25F0F16D-B29F-4AD8-B9D7-76013E00F5DA}" type="slidenum"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&lt;编号&gt;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标题幻灯片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0" lang="zh-CN" sz="6000" strike="noStrike" u="none">
                <a:solidFill>
                  <a:schemeClr val="dk1"/>
                </a:solidFill>
                <a:effectLst/>
                <a:uFillTx/>
                <a:latin typeface="等线 Light"/>
              </a:rPr>
              <a:t>单击此处编辑母版标题样式</a:t>
            </a:r>
            <a:endParaRPr b="0" lang="en-US" sz="60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dt" idx="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rPr>
              <a:t>&lt;日期/时间&gt;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&lt;页脚&gt;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1DD86A1-40AB-4242-B22A-8E953BA1DDE1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rPr>
              <a:t>&lt;编号&gt;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标题和竖排文字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zh-CN" sz="4400" strike="noStrike" u="none">
                <a:solidFill>
                  <a:schemeClr val="dk1"/>
                </a:solidFill>
                <a:effectLst/>
                <a:uFillTx/>
                <a:latin typeface="等线 Light"/>
              </a:rPr>
              <a:t>单击此处编辑母版标题样式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2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单击此处编辑母版文本样式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24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二级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20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三级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四级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五级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dt" idx="4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rPr>
              <a:t>&lt;日期/时间&gt;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4"/>
          <p:cNvSpPr>
            <a:spLocks noGrp="1"/>
          </p:cNvSpPr>
          <p:nvPr>
            <p:ph type="ftr" idx="5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&lt;页脚&gt;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5"/>
          <p:cNvSpPr>
            <a:spLocks noGrp="1"/>
          </p:cNvSpPr>
          <p:nvPr>
            <p:ph type="sldNum" idx="6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795DFB9-82F2-4B04-ACFF-08D17311DF4A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rPr>
              <a:t>&lt;编号&gt;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竖排标题与文本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8724960" y="365040"/>
            <a:ext cx="2628720" cy="5811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zh-CN" sz="4400" strike="noStrike" u="none">
                <a:solidFill>
                  <a:schemeClr val="dk1"/>
                </a:solidFill>
                <a:effectLst/>
                <a:uFillTx/>
                <a:latin typeface="等线 Light"/>
              </a:rPr>
              <a:t>单击此处编辑母版标题样式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838080" y="365040"/>
            <a:ext cx="7733880" cy="5811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2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单击此处编辑母版文本样式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24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二级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20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三级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四级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五级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dt" idx="7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rPr>
              <a:t>&lt;日期/时间&gt;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" name="PlaceHolder 4"/>
          <p:cNvSpPr>
            <a:spLocks noGrp="1"/>
          </p:cNvSpPr>
          <p:nvPr>
            <p:ph type="ftr" idx="8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&lt;页脚&gt;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" name="PlaceHolder 5"/>
          <p:cNvSpPr>
            <a:spLocks noGrp="1"/>
          </p:cNvSpPr>
          <p:nvPr>
            <p:ph type="sldNum" idx="9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863B187-2D34-4318-A71B-D6A64C0B255F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rPr>
              <a:t>&lt;编号&gt;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标题和内容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zh-CN" sz="4400" strike="noStrike" u="none">
                <a:solidFill>
                  <a:schemeClr val="dk1"/>
                </a:solidFill>
                <a:effectLst/>
                <a:uFillTx/>
                <a:latin typeface="等线 Light"/>
              </a:rPr>
              <a:t>单击此处编辑母版标题样式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2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单击此处编辑母版文本样式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24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二级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20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三级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四级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五级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 type="dt" idx="10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rPr>
              <a:t>&lt;日期/时间&gt;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 type="ftr" idx="11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&lt;页脚&gt;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" name="PlaceHolder 5"/>
          <p:cNvSpPr>
            <a:spLocks noGrp="1"/>
          </p:cNvSpPr>
          <p:nvPr>
            <p:ph type="sldNum" idx="12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4501580-97B1-49BD-9A76-8782BF3B8703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rPr>
              <a:t>&lt;编号&gt;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节标题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831960" y="1709640"/>
            <a:ext cx="10515240" cy="285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zh-CN" sz="6000" strike="noStrike" u="none">
                <a:solidFill>
                  <a:schemeClr val="dk1"/>
                </a:solidFill>
                <a:effectLst/>
                <a:uFillTx/>
                <a:latin typeface="等线 Light"/>
              </a:rPr>
              <a:t>单击此处编辑母版标题样式</a:t>
            </a:r>
            <a:endParaRPr b="0" lang="en-US" sz="60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body"/>
          </p:nvPr>
        </p:nvSpPr>
        <p:spPr>
          <a:xfrm>
            <a:off x="831960" y="4589640"/>
            <a:ext cx="1051524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zh-CN" sz="24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rPr>
              <a:t>单击此处编辑母版文本样式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dt" idx="13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rPr>
              <a:t>&lt;日期/时间&gt;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 type="ftr" idx="14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&lt;页脚&gt;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" name="PlaceHolder 5"/>
          <p:cNvSpPr>
            <a:spLocks noGrp="1"/>
          </p:cNvSpPr>
          <p:nvPr>
            <p:ph type="sldNum" idx="15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68A5DCB-52F0-44E0-A9D7-81286FC7F918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rPr>
              <a:t>&lt;编号&gt;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两栏内容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zh-CN" sz="4400" strike="noStrike" u="none">
                <a:solidFill>
                  <a:schemeClr val="dk1"/>
                </a:solidFill>
                <a:effectLst/>
                <a:uFillTx/>
                <a:latin typeface="等线 Light"/>
              </a:rPr>
              <a:t>单击此处编辑母版标题样式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2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单击此处编辑母版文本样式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24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二级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20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三级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四级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五级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body"/>
          </p:nvPr>
        </p:nvSpPr>
        <p:spPr>
          <a:xfrm>
            <a:off x="617220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2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单击此处编辑母版文本样式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24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二级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20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三级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四级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五级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27" name="PlaceHolder 4"/>
          <p:cNvSpPr>
            <a:spLocks noGrp="1"/>
          </p:cNvSpPr>
          <p:nvPr>
            <p:ph type="dt" idx="16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rPr>
              <a:t>&lt;日期/时间&gt;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" name="PlaceHolder 5"/>
          <p:cNvSpPr>
            <a:spLocks noGrp="1"/>
          </p:cNvSpPr>
          <p:nvPr>
            <p:ph type="ftr" idx="17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&lt;页脚&gt;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" name="PlaceHolder 6"/>
          <p:cNvSpPr>
            <a:spLocks noGrp="1"/>
          </p:cNvSpPr>
          <p:nvPr>
            <p:ph type="sldNum" idx="18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4847B3D-B429-42D8-9A47-164AD7929D9B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rPr>
              <a:t>&lt;编号&gt;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比较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8398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zh-CN" sz="4400" strike="noStrike" u="none">
                <a:solidFill>
                  <a:schemeClr val="dk1"/>
                </a:solidFill>
                <a:effectLst/>
                <a:uFillTx/>
                <a:latin typeface="等线 Light"/>
              </a:rPr>
              <a:t>单击此处编辑母版标题样式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 type="body"/>
          </p:nvPr>
        </p:nvSpPr>
        <p:spPr>
          <a:xfrm>
            <a:off x="839880" y="1681200"/>
            <a:ext cx="5157360" cy="823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zh-CN" sz="24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单击此处编辑母版文本样式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32" name="PlaceHolder 3"/>
          <p:cNvSpPr>
            <a:spLocks noGrp="1"/>
          </p:cNvSpPr>
          <p:nvPr>
            <p:ph type="body"/>
          </p:nvPr>
        </p:nvSpPr>
        <p:spPr>
          <a:xfrm>
            <a:off x="839880" y="2505240"/>
            <a:ext cx="5157360" cy="368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2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单击此处编辑母版文本样式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24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二级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20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三级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四级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五级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33" name="PlaceHolder 4"/>
          <p:cNvSpPr>
            <a:spLocks noGrp="1"/>
          </p:cNvSpPr>
          <p:nvPr>
            <p:ph type="body"/>
          </p:nvPr>
        </p:nvSpPr>
        <p:spPr>
          <a:xfrm>
            <a:off x="6172200" y="1681200"/>
            <a:ext cx="5182920" cy="823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zh-CN" sz="24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单击此处编辑母版文本样式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34" name="PlaceHolder 5"/>
          <p:cNvSpPr>
            <a:spLocks noGrp="1"/>
          </p:cNvSpPr>
          <p:nvPr>
            <p:ph type="body"/>
          </p:nvPr>
        </p:nvSpPr>
        <p:spPr>
          <a:xfrm>
            <a:off x="6172200" y="2505240"/>
            <a:ext cx="5182920" cy="368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2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单击此处编辑母版文本样式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24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二级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20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三级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四级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五级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35" name="PlaceHolder 6"/>
          <p:cNvSpPr>
            <a:spLocks noGrp="1"/>
          </p:cNvSpPr>
          <p:nvPr>
            <p:ph type="dt" idx="19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rPr>
              <a:t>&lt;日期/时间&gt;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" name="PlaceHolder 7"/>
          <p:cNvSpPr>
            <a:spLocks noGrp="1"/>
          </p:cNvSpPr>
          <p:nvPr>
            <p:ph type="ftr" idx="20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&lt;页脚&gt;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" name="PlaceHolder 8"/>
          <p:cNvSpPr>
            <a:spLocks noGrp="1"/>
          </p:cNvSpPr>
          <p:nvPr>
            <p:ph type="sldNum" idx="21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EC4B9B8-8685-44CC-BA4D-4AF0A417BFB3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rPr>
              <a:t>&lt;编号&gt;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仅标题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zh-CN" sz="4400" strike="noStrike" u="none">
                <a:solidFill>
                  <a:schemeClr val="dk1"/>
                </a:solidFill>
                <a:effectLst/>
                <a:uFillTx/>
                <a:latin typeface="等线 Light"/>
              </a:rPr>
              <a:t>单击此处编辑母版标题样式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dt" idx="22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rPr>
              <a:t>&lt;日期/时间&gt;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ftr" idx="23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&lt;页脚&gt;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 type="sldNum" idx="24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44D2294-619B-4C48-B995-AD9A462D8828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rPr>
              <a:t>&lt;编号&gt;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空白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dt" idx="25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rPr>
              <a:t>&lt;日期/时间&gt;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 type="ftr" idx="26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&lt;页脚&gt;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" name="PlaceHolder 3"/>
          <p:cNvSpPr>
            <a:spLocks noGrp="1"/>
          </p:cNvSpPr>
          <p:nvPr>
            <p:ph type="sldNum" idx="27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EB1DBAD-590A-4C79-B3B4-07E1E88CC078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rPr>
              <a:t>&lt;编号&gt;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内容与标题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zh-CN" sz="3200" strike="noStrike" u="none">
                <a:solidFill>
                  <a:schemeClr val="dk1"/>
                </a:solidFill>
                <a:effectLst/>
                <a:uFillTx/>
                <a:latin typeface="等线 Light"/>
              </a:rPr>
              <a:t>单击此处编辑母版标题样式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32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单击此处编辑母版文本样式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2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二级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24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三级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20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四级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20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五级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47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zh-CN" sz="16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单击此处编辑母版文本样式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48" name="PlaceHolder 4"/>
          <p:cNvSpPr>
            <a:spLocks noGrp="1"/>
          </p:cNvSpPr>
          <p:nvPr>
            <p:ph type="dt" idx="28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rPr>
              <a:t>&lt;日期/时间&gt;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" name="PlaceHolder 5"/>
          <p:cNvSpPr>
            <a:spLocks noGrp="1"/>
          </p:cNvSpPr>
          <p:nvPr>
            <p:ph type="ftr" idx="29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&lt;页脚&gt;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" name="PlaceHolder 6"/>
          <p:cNvSpPr>
            <a:spLocks noGrp="1"/>
          </p:cNvSpPr>
          <p:nvPr>
            <p:ph type="sldNum" idx="30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FDE9089-1FBD-41C8-80B5-27D131732F69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rPr>
              <a:t>&lt;编号&gt;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图片与标题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zh-CN" sz="3200" strike="noStrike" u="none">
                <a:solidFill>
                  <a:schemeClr val="dk1"/>
                </a:solidFill>
                <a:effectLst/>
                <a:uFillTx/>
                <a:latin typeface="等线 Light"/>
              </a:rPr>
              <a:t>单击此处编辑母版标题样式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52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32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点击以编辑提纲文本格式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32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第二提纲级别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32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第三提纲级别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32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第四提纲级别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32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第五提纲级别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32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第六提纲级别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32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第七提纲级别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53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zh-CN" sz="16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单击此处编辑母版文本样式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54" name="PlaceHolder 4"/>
          <p:cNvSpPr>
            <a:spLocks noGrp="1"/>
          </p:cNvSpPr>
          <p:nvPr>
            <p:ph type="dt" idx="3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rPr>
              <a:t>&lt;日期/时间&gt;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" name="PlaceHolder 5"/>
          <p:cNvSpPr>
            <a:spLocks noGrp="1"/>
          </p:cNvSpPr>
          <p:nvPr>
            <p:ph type="ftr" idx="3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&lt;页脚&gt;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" name="PlaceHolder 6"/>
          <p:cNvSpPr>
            <a:spLocks noGrp="1"/>
          </p:cNvSpPr>
          <p:nvPr>
            <p:ph type="sldNum" idx="3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CACBA95-3B31-4D5D-9ACA-BB50CAC513E9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rPr>
              <a:t>&lt;编号&gt;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sv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Rounded Rectangle 17"/>
          <p:cNvSpPr/>
          <p:nvPr/>
        </p:nvSpPr>
        <p:spPr>
          <a:xfrm>
            <a:off x="4699440" y="1821600"/>
            <a:ext cx="6784560" cy="3951720"/>
          </a:xfrm>
          <a:prstGeom prst="roundRect">
            <a:avLst>
              <a:gd name="adj" fmla="val 2746"/>
            </a:avLst>
          </a:prstGeom>
          <a:solidFill>
            <a:schemeClr val="lt1">
              <a:lumMod val="95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rm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等线"/>
            </a:endParaRPr>
          </a:p>
        </p:txBody>
      </p:sp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9465480" cy="1161360"/>
          </a:xfrm>
          <a:prstGeom prst="rect">
            <a:avLst/>
          </a:prstGeom>
          <a:noFill/>
          <a:ln w="0">
            <a:noFill/>
          </a:ln>
        </p:spPr>
        <p:txBody>
          <a:bodyPr lIns="38160" rIns="38160" tIns="25560" bIns="25560" anchor="ctr">
            <a:normAutofit fontScale="77500" lnSpcReduction="19999"/>
          </a:bodyPr>
          <a:p>
            <a:pPr indent="0">
              <a:buNone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等线 Light"/>
              </a:rPr>
              <a:t>With HMO supplement (2’FL and LNnT), the mean _x005F_x000B_time to reach full enteral feeding was 2 days shorter1*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indent="0" defTabSz="914400">
              <a:lnSpc>
                <a:spcPct val="90000"/>
              </a:lnSpc>
              <a:buNone/>
            </a:pPr>
            <a:r>
              <a:rPr b="0" lang="zh-CN" sz="2800" strike="noStrike" u="none">
                <a:solidFill>
                  <a:schemeClr val="dk1"/>
                </a:solidFill>
                <a:effectLst/>
                <a:uFillTx/>
                <a:latin typeface="等线 Light"/>
              </a:rPr>
              <a:t>补充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等线 Light"/>
              </a:rPr>
              <a:t>HMO</a:t>
            </a:r>
            <a:r>
              <a:rPr b="0" lang="zh-CN" sz="2800" strike="noStrike" u="none">
                <a:solidFill>
                  <a:schemeClr val="dk1"/>
                </a:solidFill>
                <a:effectLst/>
                <a:uFillTx/>
                <a:latin typeface="等线 Light"/>
              </a:rPr>
              <a:t>（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等线 Light"/>
              </a:rPr>
              <a:t>2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等线 Light"/>
              </a:rPr>
              <a:t>’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等线 Light"/>
              </a:rPr>
              <a:t>FL</a:t>
            </a:r>
            <a:r>
              <a:rPr b="0" lang="zh-CN" sz="2800" strike="noStrike" u="none">
                <a:solidFill>
                  <a:schemeClr val="dk1"/>
                </a:solidFill>
                <a:effectLst/>
                <a:uFillTx/>
                <a:latin typeface="等线 Light"/>
              </a:rPr>
              <a:t>和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等线 Light"/>
              </a:rPr>
              <a:t>LNnT</a:t>
            </a:r>
            <a:r>
              <a:rPr b="0" lang="zh-CN" sz="2800" strike="noStrike" u="none">
                <a:solidFill>
                  <a:schemeClr val="dk1"/>
                </a:solidFill>
                <a:effectLst/>
                <a:uFillTx/>
                <a:latin typeface="等线 Light"/>
              </a:rPr>
              <a:t>）后，达到全肠内喂养的平均时间缩短了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等线 Light"/>
              </a:rPr>
              <a:t>2</a:t>
            </a:r>
            <a:r>
              <a:rPr b="0" lang="zh-CN" sz="2800" strike="noStrike" u="none">
                <a:solidFill>
                  <a:schemeClr val="dk1"/>
                </a:solidFill>
                <a:effectLst/>
                <a:uFillTx/>
                <a:latin typeface="等线 Light"/>
              </a:rPr>
              <a:t>天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等线 Light"/>
              </a:rPr>
              <a:t>1*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65" name="Textfeld 27"/>
          <p:cNvSpPr/>
          <p:nvPr/>
        </p:nvSpPr>
        <p:spPr>
          <a:xfrm>
            <a:off x="6123600" y="6307920"/>
            <a:ext cx="5430600" cy="21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rIns="38160" tIns="25560" bIns="25560" anchor="t">
            <a:normAutofit fontScale="77500" lnSpcReduction="19999"/>
          </a:bodyPr>
          <a:p>
            <a:r>
              <a:rPr b="0" lang="en-US" sz="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2’FL, 2-fucosyllactose; HMO, human milk oligosaccharide; LNnT, Lacto-N-neotetraose.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r" defTabSz="914400">
              <a:lnSpc>
                <a:spcPct val="100000"/>
              </a:lnSpc>
            </a:pPr>
            <a:r>
              <a:rPr b="0" lang="en-US" sz="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2</a:t>
            </a:r>
            <a:r>
              <a:rPr b="0" lang="en-US" sz="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’</a:t>
            </a:r>
            <a:r>
              <a:rPr b="0" lang="en-US" sz="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FL</a:t>
            </a:r>
            <a:r>
              <a:rPr b="0" lang="zh-CN" sz="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，</a:t>
            </a:r>
            <a:r>
              <a:rPr b="0" lang="en-US" sz="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2-</a:t>
            </a:r>
            <a:r>
              <a:rPr b="0" lang="zh-CN" sz="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岩藻糖基乳糖；</a:t>
            </a:r>
            <a:r>
              <a:rPr b="0" lang="en-US" sz="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HMO</a:t>
            </a:r>
            <a:r>
              <a:rPr b="0" lang="zh-CN" sz="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，人乳寡糖；</a:t>
            </a:r>
            <a:r>
              <a:rPr b="0" lang="en-US" sz="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LNnT</a:t>
            </a:r>
            <a:r>
              <a:rPr b="0" lang="zh-CN" sz="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，乳</a:t>
            </a:r>
            <a:r>
              <a:rPr b="0" lang="en-US" sz="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-N-</a:t>
            </a:r>
            <a:r>
              <a:rPr b="0" lang="zh-CN" sz="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新四糖。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Rectangle 13"/>
          <p:cNvSpPr/>
          <p:nvPr/>
        </p:nvSpPr>
        <p:spPr>
          <a:xfrm>
            <a:off x="6094800" y="6539040"/>
            <a:ext cx="5430600" cy="21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rIns="38160" tIns="25560" bIns="25560" anchor="t">
            <a:normAutofit fontScale="77500" lnSpcReduction="19999"/>
          </a:bodyPr>
          <a:p>
            <a:r>
              <a:rPr b="0" lang="en-US" sz="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1. Hascoët JM et al., Abstract at WCPGHAN 2021. * Randomised, clinical trial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r" defTabSz="914400">
              <a:lnSpc>
                <a:spcPct val="100000"/>
              </a:lnSpc>
            </a:pPr>
            <a:r>
              <a:rPr b="0" lang="en-US" sz="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1. Hascoët JM</a:t>
            </a:r>
            <a:r>
              <a:rPr b="0" lang="zh-CN" sz="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等，</a:t>
            </a:r>
            <a:r>
              <a:rPr b="0" lang="en-US" sz="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WCPGHAN 2021</a:t>
            </a:r>
            <a:r>
              <a:rPr b="0" lang="zh-CN" sz="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摘要。</a:t>
            </a:r>
            <a:r>
              <a:rPr b="0" lang="en-US" sz="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* </a:t>
            </a:r>
            <a:r>
              <a:rPr b="0" lang="zh-CN" sz="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随机临床试验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PlaceHolder 2"/>
          <p:cNvSpPr>
            <a:spLocks noGrp="1"/>
          </p:cNvSpPr>
          <p:nvPr>
            <p:ph/>
          </p:nvPr>
        </p:nvSpPr>
        <p:spPr>
          <a:xfrm>
            <a:off x="994680" y="5078880"/>
            <a:ext cx="3072960" cy="879840"/>
          </a:xfrm>
          <a:prstGeom prst="rect">
            <a:avLst/>
          </a:prstGeom>
          <a:noFill/>
          <a:ln w="0">
            <a:noFill/>
          </a:ln>
        </p:spPr>
        <p:txBody>
          <a:bodyPr lIns="38160" rIns="38160" tIns="25560" bIns="25560" anchor="t">
            <a:normAutofit fontScale="85000" lnSpcReduction="19999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Faster progression to FEF may help reduce the risk of growth restriction and exacerbated gut immaturity1</a:t>
            </a:r>
            <a:endParaRPr b="0" lang="en-US" sz="14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indent="0" algn="ctr" defTabSz="9144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zh-CN" sz="14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更快地达到</a:t>
            </a: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FEF</a:t>
            </a:r>
            <a:r>
              <a:rPr b="0" lang="zh-CN" sz="14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可能有助于降低生长受限和肠道不成熟加剧的风险</a:t>
            </a: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1</a:t>
            </a:r>
            <a:endParaRPr b="0" lang="en-US" sz="14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grpSp>
        <p:nvGrpSpPr>
          <p:cNvPr id="68" name="Group 12"/>
          <p:cNvGrpSpPr/>
          <p:nvPr/>
        </p:nvGrpSpPr>
        <p:grpSpPr>
          <a:xfrm>
            <a:off x="5007960" y="2229120"/>
            <a:ext cx="6085080" cy="2849400"/>
            <a:chOff x="5007960" y="2229120"/>
            <a:chExt cx="6085080" cy="2849400"/>
          </a:xfrm>
        </p:grpSpPr>
        <p:sp>
          <p:nvSpPr>
            <p:cNvPr id="69" name="Abgerundetes Rechteck 5"/>
            <p:cNvSpPr/>
            <p:nvPr/>
          </p:nvSpPr>
          <p:spPr>
            <a:xfrm>
              <a:off x="5052240" y="2229120"/>
              <a:ext cx="3457440" cy="200880"/>
            </a:xfrm>
            <a:prstGeom prst="roundRect">
              <a:avLst>
                <a:gd name="adj" fmla="val 0"/>
              </a:avLst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r>
                <a:rPr b="1" lang="en-GB" sz="1400" strike="noStrike" u="none">
                  <a:solidFill>
                    <a:schemeClr val="accent1"/>
                  </a:solidFill>
                  <a:effectLst/>
                  <a:uFillTx/>
                  <a:latin typeface="Arial"/>
                </a:rPr>
                <a:t>Full enteral feeding^</a:t>
              </a:r>
              <a:endPara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cxnSp>
          <p:nvCxnSpPr>
            <p:cNvPr id="70" name="Straight Connector 24"/>
            <p:cNvCxnSpPr/>
            <p:nvPr/>
          </p:nvCxnSpPr>
          <p:spPr>
            <a:xfrm>
              <a:off x="5135400" y="4770360"/>
              <a:ext cx="4555080" cy="360"/>
            </a:xfrm>
            <a:prstGeom prst="straightConnector1">
              <a:avLst/>
            </a:prstGeom>
            <a:ln w="12700">
              <a:solidFill>
                <a:srgbClr val="000000">
                  <a:lumMod val="60000"/>
                  <a:lumOff val="40000"/>
                </a:srgbClr>
              </a:solidFill>
            </a:ln>
          </p:spPr>
        </p:cxnSp>
        <p:sp>
          <p:nvSpPr>
            <p:cNvPr id="71" name="Rounded Rectangle 4"/>
            <p:cNvSpPr/>
            <p:nvPr/>
          </p:nvSpPr>
          <p:spPr>
            <a:xfrm>
              <a:off x="5135400" y="2597040"/>
              <a:ext cx="4142520" cy="883440"/>
            </a:xfrm>
            <a:prstGeom prst="roundRect">
              <a:avLst>
                <a:gd name="adj" fmla="val 8334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r>
                <a:rPr b="1" lang="en-US" sz="1200" strike="noStrike" u="none">
                  <a:solidFill>
                    <a:schemeClr val="lt1"/>
                  </a:solidFill>
                  <a:effectLst/>
                  <a:uFillTx/>
                  <a:latin typeface="等线"/>
                </a:rPr>
                <a:t>Placebo</a:t>
              </a:r>
              <a:endParaRPr b="0" lang="en-US" sz="12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  <a:p>
              <a:pPr defTabSz="914400">
                <a:lnSpc>
                  <a:spcPct val="100000"/>
                </a:lnSpc>
              </a:pPr>
              <a:r>
                <a:rPr b="0" lang="en-US" sz="1000" strike="noStrike" u="none">
                  <a:solidFill>
                    <a:schemeClr val="lt1"/>
                  </a:solidFill>
                  <a:effectLst/>
                  <a:uFillTx/>
                  <a:latin typeface="等线"/>
                </a:rPr>
                <a:t>(n=43)</a:t>
              </a:r>
              <a:endParaRPr b="0" lang="en-US" sz="10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2" name="Rounded Rectangle 36"/>
            <p:cNvSpPr/>
            <p:nvPr/>
          </p:nvSpPr>
          <p:spPr>
            <a:xfrm>
              <a:off x="5135400" y="3678480"/>
              <a:ext cx="3743640" cy="883440"/>
            </a:xfrm>
            <a:prstGeom prst="roundRect">
              <a:avLst>
                <a:gd name="adj" fmla="val 8334"/>
              </a:avLst>
            </a:prstGeom>
            <a:solidFill>
              <a:srgbClr val="33cc6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r>
                <a:rPr b="1" lang="en-GB" sz="1200" strike="noStrike" u="none">
                  <a:solidFill>
                    <a:schemeClr val="lt2"/>
                  </a:solidFill>
                  <a:effectLst/>
                  <a:uFillTx/>
                  <a:latin typeface="Arial"/>
                </a:rPr>
                <a:t>HMO (2’FL, LNnT) supplement </a:t>
              </a:r>
              <a:endParaRPr b="0" lang="en-US" sz="12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defTabSz="914400">
                <a:lnSpc>
                  <a:spcPct val="100000"/>
                </a:lnSpc>
              </a:pPr>
              <a:r>
                <a:rPr b="0" lang="en-US" sz="1000" strike="noStrike" u="none">
                  <a:solidFill>
                    <a:schemeClr val="lt2"/>
                  </a:solidFill>
                  <a:effectLst/>
                  <a:uFillTx/>
                  <a:latin typeface="等线"/>
                </a:rPr>
                <a:t>(n=43)</a:t>
              </a:r>
              <a:endParaRPr b="0" lang="en-US" sz="10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3" name="TextBox 5"/>
            <p:cNvSpPr/>
            <p:nvPr/>
          </p:nvSpPr>
          <p:spPr>
            <a:xfrm>
              <a:off x="8562600" y="2849040"/>
              <a:ext cx="633240" cy="369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b="1" lang="en-GB" sz="1800" strike="noStrike" u="none">
                  <a:solidFill>
                    <a:schemeClr val="lt1"/>
                  </a:solidFill>
                  <a:effectLst/>
                  <a:uFillTx/>
                  <a:latin typeface="Arial"/>
                </a:rPr>
                <a:t>14,3</a:t>
              </a: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4" name="TextBox 37"/>
            <p:cNvSpPr/>
            <p:nvPr/>
          </p:nvSpPr>
          <p:spPr>
            <a:xfrm>
              <a:off x="8092080" y="3935520"/>
              <a:ext cx="633240" cy="369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b="1" lang="en-GB" sz="1800" strike="noStrike" u="none">
                  <a:solidFill>
                    <a:schemeClr val="lt1"/>
                  </a:solidFill>
                  <a:effectLst/>
                  <a:uFillTx/>
                  <a:latin typeface="Arial"/>
                </a:rPr>
                <a:t>12,2</a:t>
              </a: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5" name="TextBox 7"/>
            <p:cNvSpPr/>
            <p:nvPr/>
          </p:nvSpPr>
          <p:spPr>
            <a:xfrm>
              <a:off x="5007960" y="4832640"/>
              <a:ext cx="254880" cy="245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b="0" lang="en-US" sz="1000" strike="noStrike" u="none">
                  <a:solidFill>
                    <a:schemeClr val="dk1"/>
                  </a:solidFill>
                  <a:effectLst/>
                  <a:uFillTx/>
                  <a:latin typeface="等线"/>
                </a:rPr>
                <a:t>0</a:t>
              </a:r>
              <a:endParaRPr b="0" lang="en-US" sz="10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6" name="TextBox 38"/>
            <p:cNvSpPr/>
            <p:nvPr/>
          </p:nvSpPr>
          <p:spPr>
            <a:xfrm>
              <a:off x="6526080" y="4832640"/>
              <a:ext cx="254880" cy="245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b="0" lang="en-US" sz="1000" strike="noStrike" u="none">
                  <a:solidFill>
                    <a:schemeClr val="dk1"/>
                  </a:solidFill>
                  <a:effectLst/>
                  <a:uFillTx/>
                  <a:latin typeface="等线"/>
                </a:rPr>
                <a:t>5</a:t>
              </a:r>
              <a:endParaRPr b="0" lang="en-US" sz="10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7" name="TextBox 39"/>
            <p:cNvSpPr/>
            <p:nvPr/>
          </p:nvSpPr>
          <p:spPr>
            <a:xfrm>
              <a:off x="8044560" y="4832640"/>
              <a:ext cx="325440" cy="245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b="0" lang="en-US" sz="1000" strike="noStrike" u="none">
                  <a:solidFill>
                    <a:schemeClr val="dk1"/>
                  </a:solidFill>
                  <a:effectLst/>
                  <a:uFillTx/>
                  <a:latin typeface="等线"/>
                </a:rPr>
                <a:t>10</a:t>
              </a:r>
              <a:endParaRPr b="0" lang="en-US" sz="10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8" name="TextBox 40"/>
            <p:cNvSpPr/>
            <p:nvPr/>
          </p:nvSpPr>
          <p:spPr>
            <a:xfrm>
              <a:off x="9562680" y="4832640"/>
              <a:ext cx="325440" cy="245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b="0" lang="en-US" sz="1000" strike="noStrike" u="none">
                  <a:solidFill>
                    <a:schemeClr val="dk1"/>
                  </a:solidFill>
                  <a:effectLst/>
                  <a:uFillTx/>
                  <a:latin typeface="等线"/>
                </a:rPr>
                <a:t>15</a:t>
              </a:r>
              <a:endParaRPr b="0" lang="en-US" sz="10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9" name="Pfeil nach unten 19"/>
            <p:cNvSpPr/>
            <p:nvPr/>
          </p:nvSpPr>
          <p:spPr>
            <a:xfrm rot="5400000">
              <a:off x="9577440" y="3062160"/>
              <a:ext cx="880200" cy="2150640"/>
            </a:xfrm>
            <a:prstGeom prst="downArrow">
              <a:avLst>
                <a:gd name="adj1" fmla="val 50000"/>
                <a:gd name="adj2" fmla="val 5000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GB" sz="1800" strike="noStrike" u="none">
                <a:solidFill>
                  <a:schemeClr val="accent1"/>
                </a:solidFill>
                <a:effectLst/>
                <a:uFillTx/>
                <a:latin typeface="等线"/>
              </a:endParaRPr>
            </a:p>
          </p:txBody>
        </p:sp>
        <p:sp>
          <p:nvSpPr>
            <p:cNvPr id="80" name="TextBox 11"/>
            <p:cNvSpPr/>
            <p:nvPr/>
          </p:nvSpPr>
          <p:spPr>
            <a:xfrm>
              <a:off x="9244800" y="3943440"/>
              <a:ext cx="1761840" cy="369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b="1" lang="en-US" sz="1800" strike="noStrike" u="none">
                  <a:solidFill>
                    <a:schemeClr val="lt2"/>
                  </a:solidFill>
                  <a:effectLst/>
                  <a:uFillTx/>
                  <a:latin typeface="等线"/>
                </a:rPr>
                <a:t>2 days shorter</a:t>
              </a: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81" name="TextBox 14"/>
          <p:cNvSpPr/>
          <p:nvPr/>
        </p:nvSpPr>
        <p:spPr>
          <a:xfrm>
            <a:off x="5007960" y="5274720"/>
            <a:ext cx="4442040" cy="24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rIns="38160" tIns="25560" bIns="25560" anchor="t">
            <a:normAutofit fontScale="77500" lnSpcReduction="19999"/>
          </a:bodyPr>
          <a:p>
            <a:r>
              <a:rPr b="0" lang="en-US" sz="1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^Time to reach full enteral feeding is a reliable indicator of feeding tolerance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^</a:t>
            </a:r>
            <a:r>
              <a:rPr b="0" lang="zh-CN" sz="1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达到全肠内喂养的时间是喂养耐受性的可靠指标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2" name="Graphic 3" descr=""/>
          <p:cNvPicPr/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/>
        </p:blipFill>
        <p:spPr>
          <a:xfrm>
            <a:off x="792360" y="1552320"/>
            <a:ext cx="3752640" cy="37526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 pitchFamily="0" charset="1"/>
        <a:ea typeface=""/>
        <a:cs typeface=""/>
      </a:majorFont>
      <a:minorFont>
        <a:latin typeface="等线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LibreOffice/25.2.3.2$Windows_X86_64 LibreOffice_project/bbb074479178df812d175f709636b368952c2ce3</Application>
  <AppVersion>15.0000</AppVersion>
  <Words>115</Words>
  <Paragraphs>18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2025-01-11T13:04:11Z</dcterms:created>
  <dc:creator>488460324@qq.com</dc:creator>
  <dc:description/>
  <dc:language>zh-CN</dc:language>
  <cp:lastModifiedBy>488460324@qq.com</cp:lastModifiedBy>
  <dcterms:modified xsi:type="dcterms:W3CDTF">2025-01-11T13:27:48Z</dcterms:modified>
  <cp:revision>2</cp:revision>
  <dc:subject/>
  <dc:title>PowerPoint 演示文稿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r8>1</vt:r8>
  </property>
  <property fmtid="{D5CDD505-2E9C-101B-9397-08002B2CF9AE}" pid="3" name="PresentationFormat">
    <vt:lpwstr>宽屏</vt:lpwstr>
  </property>
  <property fmtid="{D5CDD505-2E9C-101B-9397-08002B2CF9AE}" pid="4" name="Slides">
    <vt:r8>1</vt:r8>
  </property>
</Properties>
</file>