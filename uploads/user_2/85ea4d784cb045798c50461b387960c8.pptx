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FD2A0F-94E4-4626-8FC3-33DAFC53CDA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8D8A8A-1445-455E-96D1-F5C39F44D12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266C93-DBD2-40B7-9628-B0DD2FF06AC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1E9319-9DD7-4DC3-ACD0-717F6D6B43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ADF2A3-AB97-4673-A704-CDDD54BB7E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3B25E-A82B-46EB-91F4-EF50A2591A6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B49924-6729-43AC-8B0B-B86B255C696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D070D0-25C6-4157-A8BF-9061E0A4CE8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0A2018-2D84-4ACB-A977-CDA08971194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D1AD0F-06C9-4E18-AA54-FFC4E46747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2E2BAC-B245-4639-9B3E-CB0CECB6C13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A529EF-7D03-47F3-A2A6-A6D74915A0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0FF299-3D2D-4C6C-B59E-65EA5AF5DF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77500" lnSpcReduction="1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_x005F_x000B_time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补充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HMO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’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FL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和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LNnT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）后，达到全肠内喂养的平均时间缩短了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天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’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FL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2-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岩藻糖基乳糖；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HMO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，人乳寡糖；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LNnT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，乳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-N-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新四糖。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at WCPGHAN 2021. * Randomised, clinical trial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WCPGHAN 2021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摘要。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*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随机临床试验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更快地达到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FEF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可能有助于降低生长受限和肠道不成熟加剧的风险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68" name="Group 12"/>
          <p:cNvGrpSpPr/>
          <p:nvPr/>
        </p:nvGrpSpPr>
        <p:grpSpPr>
          <a:xfrm>
            <a:off x="5007960" y="2229120"/>
            <a:ext cx="6085080" cy="2849400"/>
            <a:chOff x="5007960" y="2229120"/>
            <a:chExt cx="6085080" cy="2849400"/>
          </a:xfrm>
        </p:grpSpPr>
        <p:sp>
          <p:nvSpPr>
            <p:cNvPr id="69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0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700">
              <a:solidFill>
                <a:srgbClr val="000000">
                  <a:lumMod val="60000"/>
                  <a:lumOff val="40000"/>
                </a:srgbClr>
              </a:solidFill>
            </a:ln>
          </p:spPr>
        </p:cxnSp>
        <p:sp>
          <p:nvSpPr>
            <p:cNvPr id="71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5"/>
            <p:cNvSpPr/>
            <p:nvPr/>
          </p:nvSpPr>
          <p:spPr>
            <a:xfrm>
              <a:off x="8562600" y="2849040"/>
              <a:ext cx="6332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37"/>
            <p:cNvSpPr/>
            <p:nvPr/>
          </p:nvSpPr>
          <p:spPr>
            <a:xfrm>
              <a:off x="8092080" y="3935520"/>
              <a:ext cx="6332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7"/>
            <p:cNvSpPr/>
            <p:nvPr/>
          </p:nvSpPr>
          <p:spPr>
            <a:xfrm>
              <a:off x="5007960" y="4832640"/>
              <a:ext cx="25488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38"/>
            <p:cNvSpPr/>
            <p:nvPr/>
          </p:nvSpPr>
          <p:spPr>
            <a:xfrm>
              <a:off x="6526080" y="4832640"/>
              <a:ext cx="25488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39"/>
            <p:cNvSpPr/>
            <p:nvPr/>
          </p:nvSpPr>
          <p:spPr>
            <a:xfrm>
              <a:off x="8044560" y="4832640"/>
              <a:ext cx="3254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40"/>
            <p:cNvSpPr/>
            <p:nvPr/>
          </p:nvSpPr>
          <p:spPr>
            <a:xfrm>
              <a:off x="9562680" y="4832640"/>
              <a:ext cx="3254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0" name="TextBox 11"/>
            <p:cNvSpPr/>
            <p:nvPr/>
          </p:nvSpPr>
          <p:spPr>
            <a:xfrm>
              <a:off x="9244800" y="3943440"/>
              <a:ext cx="176184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达到全肠内喂养的时间是评估喂养耐受性的可靠指标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LibreOffice/25.2.3.2$Windows_X86_64 LibreOffice_project/bbb074479178df812d175f709636b368952c2ce3</Application>
  <AppVersion>15.0000</AppVersion>
  <Words>115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