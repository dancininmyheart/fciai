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1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单击以移动幻灯片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&lt;页眉&gt;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9764FAB-C89F-4F5A-834E-8954D7D7C81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D90506B-E8DF-460F-96E2-F61F5C88D5D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标题幻灯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5279F1-61B4-4254-8CCA-073ABEA1F94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标题和竖排文字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F8B7A2-82E8-4A6A-A16B-9AA295926E5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竖排标题与文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B24BB2-83A3-483D-B479-BF197B3EEB1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EE063E-3546-41E7-9ED2-703F3DB0B1F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节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FEE986-5771-4958-A4E9-31CBF4F971C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两栏内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89CD40-776E-48DF-A5D6-843F9C99E24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比较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3B6D1E-2CE9-4A6C-B51D-C6EA1203B93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仅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5E6357-C705-45F6-849D-6121497CCEB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空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187C0A-7AB9-45A0-8748-E9A6FF711FC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容与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51CC31-598D-4603-B317-BAA06A42B7E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图片与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2F3E63-214A-467E-A752-2983E43A485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ounded Rectangle 17"/>
          <p:cNvSpPr/>
          <p:nvPr/>
        </p:nvSpPr>
        <p:spPr>
          <a:xfrm>
            <a:off x="4699440" y="1821600"/>
            <a:ext cx="6784560" cy="3951720"/>
          </a:xfrm>
          <a:prstGeom prst="roundRect">
            <a:avLst>
              <a:gd name="adj" fmla="val 2746"/>
            </a:avLst>
          </a:prstGeom>
          <a:solidFill>
            <a:schemeClr val="lt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465480" cy="11613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ctr">
            <a:normAutofit fontScale="77500" lnSpcReduction="19999"/>
          </a:bodyPr>
          <a:p>
            <a:pPr indent="0">
              <a:buNone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With HMO supplement (2’FL and LNnT), the mean _x005F_x000B_time to reach full enteral feeding was 2 days shorter1*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indent="0" defTabSz="914400">
              <a:lnSpc>
                <a:spcPct val="90000"/>
              </a:lnSpc>
              <a:buNone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补充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HMO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（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2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’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FL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和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LNnT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）后，达到全肠内喂养的平均时间缩短了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2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天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1*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5" name="Textfeld 27"/>
          <p:cNvSpPr/>
          <p:nvPr/>
        </p:nvSpPr>
        <p:spPr>
          <a:xfrm>
            <a:off x="6123600" y="630792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77500" lnSpcReduction="19999"/>
          </a:bodyPr>
          <a:p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2’FL, 2-fucosyllactose; HMO, human milk oligosaccharide; LNnT, Lacto-N-neotetraose.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’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FL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2-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岩藻糖基乳糖；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HMO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，人乳寡糖；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LNnT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，乳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-N-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新四糖。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13"/>
          <p:cNvSpPr/>
          <p:nvPr/>
        </p:nvSpPr>
        <p:spPr>
          <a:xfrm>
            <a:off x="6094800" y="653904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77500" lnSpcReduction="19999"/>
          </a:bodyPr>
          <a:p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1. Hascoët JM et al., Abstract at WCPGHAN 2021. * Randomised, clinical trial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1. Hascoët JM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等，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WCPGHAN 2021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摘要。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* 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随机临床试验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994680" y="5078880"/>
            <a:ext cx="3072960" cy="87984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t">
            <a:normAutofit fontScale="85000" lnSpcReduction="19999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Faster progression to FEF may help reduce the risk of growth restriction and exacerbated gut immaturity1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更快地达到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FEF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可能有助于降低生长受限和肠道不成熟加剧的风险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1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grpSp>
        <p:nvGrpSpPr>
          <p:cNvPr id="68" name="Group 12"/>
          <p:cNvGrpSpPr/>
          <p:nvPr/>
        </p:nvGrpSpPr>
        <p:grpSpPr>
          <a:xfrm>
            <a:off x="5007960" y="2229120"/>
            <a:ext cx="6085080" cy="2849400"/>
            <a:chOff x="5007960" y="2229120"/>
            <a:chExt cx="6085080" cy="2849400"/>
          </a:xfrm>
        </p:grpSpPr>
        <p:sp>
          <p:nvSpPr>
            <p:cNvPr id="69" name="Abgerundetes Rechteck 5"/>
            <p:cNvSpPr/>
            <p:nvPr/>
          </p:nvSpPr>
          <p:spPr>
            <a:xfrm>
              <a:off x="5052240" y="2229120"/>
              <a:ext cx="3457440" cy="20088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400" strike="noStrike" u="none">
                  <a:solidFill>
                    <a:schemeClr val="accent1"/>
                  </a:solidFill>
                  <a:effectLst/>
                  <a:uFillTx/>
                  <a:latin typeface="Arial"/>
                </a:rPr>
                <a:t>Full enteral feeding^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0" name="Straight Connector 24"/>
            <p:cNvCxnSpPr/>
            <p:nvPr/>
          </p:nvCxnSpPr>
          <p:spPr>
            <a:xfrm>
              <a:off x="5135400" y="4770360"/>
              <a:ext cx="4555080" cy="360"/>
            </a:xfrm>
            <a:prstGeom prst="straightConnector1">
              <a:avLst/>
            </a:prstGeom>
            <a:ln w="12700">
              <a:solidFill>
                <a:srgbClr val="000000">
                  <a:lumMod val="60000"/>
                  <a:lumOff val="40000"/>
                </a:srgbClr>
              </a:solidFill>
            </a:ln>
          </p:spPr>
        </p:cxnSp>
        <p:sp>
          <p:nvSpPr>
            <p:cNvPr id="71" name="Rounded Rectangle 4"/>
            <p:cNvSpPr/>
            <p:nvPr/>
          </p:nvSpPr>
          <p:spPr>
            <a:xfrm>
              <a:off x="5135400" y="2597040"/>
              <a:ext cx="4142520" cy="883440"/>
            </a:xfrm>
            <a:prstGeom prst="roundRect">
              <a:avLst>
                <a:gd name="adj" fmla="val 833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Placebo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Rounded Rectangle 36"/>
            <p:cNvSpPr/>
            <p:nvPr/>
          </p:nvSpPr>
          <p:spPr>
            <a:xfrm>
              <a:off x="5135400" y="3678480"/>
              <a:ext cx="3743640" cy="883440"/>
            </a:xfrm>
            <a:prstGeom prst="roundRect">
              <a:avLst>
                <a:gd name="adj" fmla="val 8334"/>
              </a:avLst>
            </a:prstGeom>
            <a:solidFill>
              <a:srgbClr val="33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200" strike="noStrike" u="none">
                  <a:solidFill>
                    <a:schemeClr val="lt2"/>
                  </a:solidFill>
                  <a:effectLst/>
                  <a:uFillTx/>
                  <a:latin typeface="Arial"/>
                </a:rPr>
                <a:t>HMO (2’FL, LNnT) supplement 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TextBox 5"/>
            <p:cNvSpPr/>
            <p:nvPr/>
          </p:nvSpPr>
          <p:spPr>
            <a:xfrm>
              <a:off x="8562600" y="2849040"/>
              <a:ext cx="63324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14,3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TextBox 37"/>
            <p:cNvSpPr/>
            <p:nvPr/>
          </p:nvSpPr>
          <p:spPr>
            <a:xfrm>
              <a:off x="8092080" y="3935520"/>
              <a:ext cx="63324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12,2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TextBox 7"/>
            <p:cNvSpPr/>
            <p:nvPr/>
          </p:nvSpPr>
          <p:spPr>
            <a:xfrm>
              <a:off x="5007960" y="4832640"/>
              <a:ext cx="254880" cy="24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TextBox 38"/>
            <p:cNvSpPr/>
            <p:nvPr/>
          </p:nvSpPr>
          <p:spPr>
            <a:xfrm>
              <a:off x="6526080" y="4832640"/>
              <a:ext cx="254880" cy="24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TextBox 39"/>
            <p:cNvSpPr/>
            <p:nvPr/>
          </p:nvSpPr>
          <p:spPr>
            <a:xfrm>
              <a:off x="8044560" y="4832640"/>
              <a:ext cx="325440" cy="24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TextBox 40"/>
            <p:cNvSpPr/>
            <p:nvPr/>
          </p:nvSpPr>
          <p:spPr>
            <a:xfrm>
              <a:off x="9562680" y="4832640"/>
              <a:ext cx="325440" cy="24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Pfeil nach unten 19"/>
            <p:cNvSpPr/>
            <p:nvPr/>
          </p:nvSpPr>
          <p:spPr>
            <a:xfrm rot="5400000">
              <a:off x="9577440" y="3062160"/>
              <a:ext cx="880200" cy="215064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trike="noStrike" u="none">
                <a:solidFill>
                  <a:schemeClr val="accent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80" name="TextBox 11"/>
            <p:cNvSpPr/>
            <p:nvPr/>
          </p:nvSpPr>
          <p:spPr>
            <a:xfrm>
              <a:off x="9244800" y="3943440"/>
              <a:ext cx="176184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8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2 days shorter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1" name="TextBox 14"/>
          <p:cNvSpPr/>
          <p:nvPr/>
        </p:nvSpPr>
        <p:spPr>
          <a:xfrm>
            <a:off x="5007960" y="5274720"/>
            <a:ext cx="44420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77500" lnSpcReduction="19999"/>
          </a:bodyPr>
          <a:p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^Time to reach full enteral feeding is a reliable indicator of feeding tolerance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^</a:t>
            </a:r>
            <a:r>
              <a:rPr b="0" lang="zh-C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达到全肠内喂养的时间是喂养耐受性的可靠指标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Graphic 3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92360" y="1552320"/>
            <a:ext cx="3752640" cy="375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LibreOffice/25.2.3.2$Windows_X86_64 LibreOffice_project/bbb074479178df812d175f709636b368952c2ce3</Application>
  <AppVersion>15.0000</AppVersion>
  <Words>115</Words>
  <Paragraphs>18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2025-01-11T13:04:11Z</dcterms:created>
  <dc:creator>488460324@qq.com</dc:creator>
  <dc:description/>
  <dc:language>zh-CN</dc:language>
  <cp:lastModifiedBy>488460324@qq.com</cp:lastModifiedBy>
  <dcterms:modified xsi:type="dcterms:W3CDTF">2025-01-11T13:27:48Z</dcterms:modified>
  <cp:revision>2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宽屏</vt:lpwstr>
  </property>
  <property fmtid="{D5CDD505-2E9C-101B-9397-08002B2CF9AE}" pid="4" name="Slides">
    <vt:r8>1</vt:r8>
  </property>
</Properties>
</file>